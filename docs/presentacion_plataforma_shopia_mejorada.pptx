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2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3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4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5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6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7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8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9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10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1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12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13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14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15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_rels/slide16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Relationship Id="rImg1" Type="http://schemas.openxmlformats.org/officeDocument/2006/relationships/image" Target="../media/visual1.jpeg"/><Relationship Id="rImg2" Type="http://schemas.openxmlformats.org/officeDocument/2006/relationships/image" Target="../media/visual2.jpeg"/><Relationship Id="rImg3" Type="http://schemas.openxmlformats.org/officeDocument/2006/relationships/image" Target="../media/visual3.jpeg"/><Relationship Id="rImg4" Type="http://schemas.openxmlformats.org/officeDocument/2006/relationships/image" Target="../media/visual4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7334250" y="0"/>
            <a:ext cx="485775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pic>
        <p:nvPicPr>
          <p:cNvPr id="4" name="Dashboard mockup"/>
          <p:cNvPicPr>
            <a:picLocks noChangeAspect="1"/>
          </p:cNvPicPr>
          <p:nvPr/>
        </p:nvPicPr>
        <p:blipFill>
          <a:blip r:embed="rImg1"/>
          <a:stretch>
            <a:fillRect/>
          </a:stretch>
        </p:blipFill>
        <p:spPr>
          <a:xfrm>
            <a:off x="7067550" y="800100"/>
            <a:ext cx="4400550" cy="2628900"/>
          </a:xfrm>
          <a:prstGeom prst="rect">
            <a:avLst/>
          </a:prstGeom>
        </p:spPr>
      </p:pic>
      <p:sp>
        <p:nvSpPr>
          <p:cNvPr id="5" name="Shape"/>
          <p:cNvSpPr/>
          <p:nvPr/>
        </p:nvSpPr>
        <p:spPr>
          <a:xfrm>
            <a:off x="628650" y="609600"/>
            <a:ext cx="1447800" cy="28575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742950" y="666750"/>
            <a:ext cx="12192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PLATAFORMA SaaS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28650" y="1219200"/>
            <a:ext cx="59055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4800" b="1">
                <a:solidFill>
                  <a:srgbClr val="0F172A"/>
                </a:solidFill>
                <a:latin typeface="Aptos"/>
              </a:rPr>
              <a:t>SOCIA / SHOPIA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66750" y="230505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400">
                <a:solidFill>
                  <a:srgbClr val="334155"/>
                </a:solidFill>
                <a:latin typeface="Aptos"/>
              </a:rPr>
              <a:t>Marketing automation, CRM e IA para convertir redes sociales en ventas medibles.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685800" y="3543300"/>
            <a:ext cx="49530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500">
                <a:solidFill>
                  <a:srgbClr val="334155"/>
                </a:solidFill>
                <a:latin typeface="Aptos"/>
              </a:rPr>
              <a:t>Una operación multitenant: el dueño del SaaS controla empresas, planes, pagos, permisos y consumo; cada empresa gestiona clientes, productos, campañas y WhatsApp.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El problema no es publicar: es operar ventas sin sistema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Hoy marketing, CRM y seguimiento viven separados.</a:t>
            </a:r>
          </a:p>
        </p:txBody>
      </p:sp>
      <p:pic>
        <p:nvPicPr>
          <p:cNvPr id="4" name="Campaign mockup"/>
          <p:cNvPicPr>
            <a:picLocks noChangeAspect="1"/>
          </p:cNvPicPr>
          <p:nvPr/>
        </p:nvPicPr>
        <p:blipFill>
          <a:blip r:embed="rImg2"/>
          <a:stretch>
            <a:fillRect/>
          </a:stretch>
        </p:blipFill>
        <p:spPr>
          <a:xfrm>
            <a:off x="7334250" y="1143000"/>
            <a:ext cx="3810000" cy="2286000"/>
          </a:xfrm>
          <a:prstGeom prst="rect">
            <a:avLst/>
          </a:prstGeom>
        </p:spPr>
      </p:pic>
      <p:sp>
        <p:nvSpPr>
          <p:cNvPr id="20" name="Shape"/>
          <p:cNvSpPr/>
          <p:nvPr/>
        </p:nvSpPr>
        <p:spPr>
          <a:xfrm>
            <a:off x="723900" y="1714500"/>
            <a:ext cx="523875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"/>
          <p:cNvSpPr/>
          <p:nvPr/>
        </p:nvSpPr>
        <p:spPr>
          <a:xfrm>
            <a:off x="723900" y="1714500"/>
            <a:ext cx="76200" cy="59055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971550" y="1838325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500" b="1">
                <a:solidFill>
                  <a:srgbClr val="0F172A"/>
                </a:solidFill>
                <a:latin typeface="Aptos"/>
              </a:rPr>
              <a:t>Publicidad manual</a:t>
            </a:r>
          </a:p>
          <a:p>
            <a:pPr marL="0" indent="0" spcBef="300"/>
            <a:r>
              <a:rPr sz="1500" b="1">
                <a:solidFill>
                  <a:srgbClr val="0F172A"/>
                </a:solidFill>
                <a:latin typeface="Aptos"/>
              </a:rPr>
              <a:t>Campañas se arman una por una.</a:t>
            </a:r>
          </a:p>
        </p:txBody>
      </p:sp>
      <p:sp>
        <p:nvSpPr>
          <p:cNvPr id="23" name="Shape"/>
          <p:cNvSpPr/>
          <p:nvPr/>
        </p:nvSpPr>
        <p:spPr>
          <a:xfrm>
            <a:off x="723900" y="2590800"/>
            <a:ext cx="523875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4" name="Shape"/>
          <p:cNvSpPr/>
          <p:nvPr/>
        </p:nvSpPr>
        <p:spPr>
          <a:xfrm>
            <a:off x="723900" y="2590800"/>
            <a:ext cx="762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5" name="Text"/>
          <p:cNvSpPr txBox="1"/>
          <p:nvPr/>
        </p:nvSpPr>
        <p:spPr>
          <a:xfrm>
            <a:off x="971550" y="2714625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500">
                <a:solidFill>
                  <a:srgbClr val="0F172A"/>
                </a:solidFill>
                <a:latin typeface="Aptos"/>
              </a:rPr>
              <a:t>Clientes dispersos</a:t>
            </a:r>
          </a:p>
          <a:p>
            <a:pPr marL="0" indent="0" spcBef="300"/>
            <a:r>
              <a:rPr sz="1500">
                <a:solidFill>
                  <a:srgbClr val="0F172A"/>
                </a:solidFill>
                <a:latin typeface="Aptos"/>
              </a:rPr>
              <a:t>Leads, compradores e historial no quedan conectados.</a:t>
            </a:r>
          </a:p>
        </p:txBody>
      </p:sp>
      <p:sp>
        <p:nvSpPr>
          <p:cNvPr id="26" name="Shape"/>
          <p:cNvSpPr/>
          <p:nvPr/>
        </p:nvSpPr>
        <p:spPr>
          <a:xfrm>
            <a:off x="723900" y="3467100"/>
            <a:ext cx="523875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7" name="Shape"/>
          <p:cNvSpPr/>
          <p:nvPr/>
        </p:nvSpPr>
        <p:spPr>
          <a:xfrm>
            <a:off x="723900" y="3467100"/>
            <a:ext cx="76200" cy="59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971550" y="3590925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500">
                <a:solidFill>
                  <a:srgbClr val="0F172A"/>
                </a:solidFill>
                <a:latin typeface="Aptos"/>
              </a:rPr>
              <a:t>Sin permisos claros</a:t>
            </a:r>
          </a:p>
          <a:p>
            <a:pPr marL="0" indent="0" spcBef="300"/>
            <a:r>
              <a:rPr sz="1500">
                <a:solidFill>
                  <a:srgbClr val="0F172A"/>
                </a:solidFill>
                <a:latin typeface="Aptos"/>
              </a:rPr>
              <a:t>La UI puede ocultar, pero backend debe validar.</a:t>
            </a:r>
          </a:p>
        </p:txBody>
      </p:sp>
      <p:sp>
        <p:nvSpPr>
          <p:cNvPr id="29" name="Shape"/>
          <p:cNvSpPr/>
          <p:nvPr/>
        </p:nvSpPr>
        <p:spPr>
          <a:xfrm>
            <a:off x="723900" y="4343400"/>
            <a:ext cx="523875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0" name="Shape"/>
          <p:cNvSpPr/>
          <p:nvPr/>
        </p:nvSpPr>
        <p:spPr>
          <a:xfrm>
            <a:off x="723900" y="4343400"/>
            <a:ext cx="76200" cy="5905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1" name="Text"/>
          <p:cNvSpPr txBox="1"/>
          <p:nvPr/>
        </p:nvSpPr>
        <p:spPr>
          <a:xfrm>
            <a:off x="971550" y="4467225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500">
                <a:solidFill>
                  <a:srgbClr val="0F172A"/>
                </a:solidFill>
                <a:latin typeface="Aptos"/>
              </a:rPr>
              <a:t>Poca medición</a:t>
            </a:r>
          </a:p>
          <a:p>
            <a:pPr marL="0" indent="0" spcBef="300"/>
            <a:r>
              <a:rPr sz="1500">
                <a:solidFill>
                  <a:srgbClr val="0F172A"/>
                </a:solidFill>
                <a:latin typeface="Aptos"/>
              </a:rPr>
              <a:t>No hay lectura integrada de campañas, leads y ventas.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La oportunidad es unir marketing, CRM e IA en un mismo flujo comercial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La plataforma convierte datos de producto y cliente en campañas accionables.</a:t>
            </a:r>
          </a:p>
        </p:txBody>
      </p:sp>
      <p:pic>
        <p:nvPicPr>
          <p:cNvPr id="4" name="Analytics mockup"/>
          <p:cNvPicPr>
            <a:picLocks noChangeAspect="1"/>
          </p:cNvPicPr>
          <p:nvPr/>
        </p:nvPicPr>
        <p:blipFill>
          <a:blip r:embed="rImg4"/>
          <a:stretch>
            <a:fillRect/>
          </a:stretch>
        </p:blipFill>
        <p:spPr>
          <a:xfrm>
            <a:off x="7239000" y="1428750"/>
            <a:ext cx="3905250" cy="2333625"/>
          </a:xfrm>
          <a:prstGeom prst="rect">
            <a:avLst/>
          </a:prstGeom>
        </p:spPr>
      </p:pic>
      <p:sp>
        <p:nvSpPr>
          <p:cNvPr id="10" name="Shape"/>
          <p:cNvSpPr/>
          <p:nvPr/>
        </p:nvSpPr>
        <p:spPr>
          <a:xfrm>
            <a:off x="762000" y="3028950"/>
            <a:ext cx="819150" cy="666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0" name="Text"/>
          <p:cNvSpPr txBox="1"/>
          <p:nvPr/>
        </p:nvSpPr>
        <p:spPr>
          <a:xfrm>
            <a:off x="876300" y="3267075"/>
            <a:ext cx="5905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Producto</a:t>
            </a:r>
          </a:p>
        </p:txBody>
      </p:sp>
      <p:cxnSp>
        <p:nvCxnSpPr>
          <p:cNvPr id="50" name="Connector"/>
          <p:cNvCxnSpPr/>
          <p:nvPr/>
        </p:nvCxnSpPr>
        <p:spPr>
          <a:xfrm>
            <a:off x="1581150" y="3362325"/>
            <a:ext cx="171450" cy="9525"/>
          </a:xfrm>
          <a:prstGeom prst="line">
            <a:avLst/>
          </a:prstGeom>
          <a:ln w="38100">
            <a:solidFill>
              <a:srgbClr val="CBD5E1"/>
            </a:solidFill>
          </a:ln>
        </p:spPr>
      </p:cxnSp>
      <p:sp>
        <p:nvSpPr>
          <p:cNvPr id="11" name="Shape"/>
          <p:cNvSpPr/>
          <p:nvPr/>
        </p:nvSpPr>
        <p:spPr>
          <a:xfrm>
            <a:off x="1762125" y="3028950"/>
            <a:ext cx="819150" cy="666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1" name="Text"/>
          <p:cNvSpPr txBox="1"/>
          <p:nvPr/>
        </p:nvSpPr>
        <p:spPr>
          <a:xfrm>
            <a:off x="1876425" y="3267075"/>
            <a:ext cx="5905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Segmento</a:t>
            </a:r>
          </a:p>
        </p:txBody>
      </p:sp>
      <p:cxnSp>
        <p:nvCxnSpPr>
          <p:cNvPr id="51" name="Connector"/>
          <p:cNvCxnSpPr/>
          <p:nvPr/>
        </p:nvCxnSpPr>
        <p:spPr>
          <a:xfrm>
            <a:off x="2581275" y="3362325"/>
            <a:ext cx="171450" cy="9525"/>
          </a:xfrm>
          <a:prstGeom prst="line">
            <a:avLst/>
          </a:prstGeom>
          <a:ln w="38100">
            <a:solidFill>
              <a:srgbClr val="CBD5E1"/>
            </a:solidFill>
          </a:ln>
        </p:spPr>
      </p:cxnSp>
      <p:sp>
        <p:nvSpPr>
          <p:cNvPr id="12" name="Shape"/>
          <p:cNvSpPr/>
          <p:nvPr/>
        </p:nvSpPr>
        <p:spPr>
          <a:xfrm>
            <a:off x="2762250" y="3028950"/>
            <a:ext cx="819150" cy="6667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"/>
          <p:cNvSpPr txBox="1"/>
          <p:nvPr/>
        </p:nvSpPr>
        <p:spPr>
          <a:xfrm>
            <a:off x="2876550" y="3267075"/>
            <a:ext cx="5905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IA</a:t>
            </a:r>
          </a:p>
        </p:txBody>
      </p:sp>
      <p:cxnSp>
        <p:nvCxnSpPr>
          <p:cNvPr id="52" name="Connector"/>
          <p:cNvCxnSpPr/>
          <p:nvPr/>
        </p:nvCxnSpPr>
        <p:spPr>
          <a:xfrm>
            <a:off x="3581400" y="3362325"/>
            <a:ext cx="171450" cy="9525"/>
          </a:xfrm>
          <a:prstGeom prst="line">
            <a:avLst/>
          </a:prstGeom>
          <a:ln w="38100">
            <a:solidFill>
              <a:srgbClr val="CBD5E1"/>
            </a:solidFill>
          </a:ln>
        </p:spPr>
      </p:cxnSp>
      <p:sp>
        <p:nvSpPr>
          <p:cNvPr id="13" name="Shape"/>
          <p:cNvSpPr/>
          <p:nvPr/>
        </p:nvSpPr>
        <p:spPr>
          <a:xfrm>
            <a:off x="3762375" y="3028950"/>
            <a:ext cx="819150" cy="66675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33" name="Text"/>
          <p:cNvSpPr txBox="1"/>
          <p:nvPr/>
        </p:nvSpPr>
        <p:spPr>
          <a:xfrm>
            <a:off x="3876675" y="3267075"/>
            <a:ext cx="5905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Publicacion</a:t>
            </a:r>
          </a:p>
        </p:txBody>
      </p:sp>
      <p:cxnSp>
        <p:nvCxnSpPr>
          <p:cNvPr id="53" name="Connector"/>
          <p:cNvCxnSpPr/>
          <p:nvPr/>
        </p:nvCxnSpPr>
        <p:spPr>
          <a:xfrm>
            <a:off x="4581525" y="3362325"/>
            <a:ext cx="171450" cy="9525"/>
          </a:xfrm>
          <a:prstGeom prst="line">
            <a:avLst/>
          </a:prstGeom>
          <a:ln w="38100">
            <a:solidFill>
              <a:srgbClr val="CBD5E1"/>
            </a:solidFill>
          </a:ln>
        </p:spPr>
      </p:cxnSp>
      <p:sp>
        <p:nvSpPr>
          <p:cNvPr id="14" name="Shape"/>
          <p:cNvSpPr/>
          <p:nvPr/>
        </p:nvSpPr>
        <p:spPr>
          <a:xfrm>
            <a:off x="4762500" y="3028950"/>
            <a:ext cx="819150" cy="6667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34" name="Text"/>
          <p:cNvSpPr txBox="1"/>
          <p:nvPr/>
        </p:nvSpPr>
        <p:spPr>
          <a:xfrm>
            <a:off x="4876800" y="3267075"/>
            <a:ext cx="5905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Cliente</a:t>
            </a:r>
          </a:p>
        </p:txBody>
      </p:sp>
      <p:cxnSp>
        <p:nvCxnSpPr>
          <p:cNvPr id="54" name="Connector"/>
          <p:cNvCxnSpPr/>
          <p:nvPr/>
        </p:nvCxnSpPr>
        <p:spPr>
          <a:xfrm>
            <a:off x="5581650" y="3362325"/>
            <a:ext cx="171450" cy="9525"/>
          </a:xfrm>
          <a:prstGeom prst="line">
            <a:avLst/>
          </a:prstGeom>
          <a:ln w="38100">
            <a:solidFill>
              <a:srgbClr val="CBD5E1"/>
            </a:solidFill>
          </a:ln>
        </p:spPr>
      </p:cxnSp>
      <p:sp>
        <p:nvSpPr>
          <p:cNvPr id="15" name="Shape"/>
          <p:cNvSpPr/>
          <p:nvPr/>
        </p:nvSpPr>
        <p:spPr>
          <a:xfrm>
            <a:off x="5762625" y="3028950"/>
            <a:ext cx="819150" cy="666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5" name="Text"/>
          <p:cNvSpPr txBox="1"/>
          <p:nvPr/>
        </p:nvSpPr>
        <p:spPr>
          <a:xfrm>
            <a:off x="5876925" y="3267075"/>
            <a:ext cx="5905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Venta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876300" y="4476750"/>
            <a:ext cx="58102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000">
                <a:solidFill>
                  <a:srgbClr val="334155"/>
                </a:solidFill>
                <a:latin typeface="Aptos"/>
              </a:rPr>
              <a:t>Dos rutas de valor: campañas por producto y campañas sugeridas por comportamiento de clientes/segmentos.</a:t>
            </a:r>
          </a:p>
        </p:txBody>
      </p:sp>
      <p:sp>
        <p:nvSpPr>
          <p:cNvPr id="71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Arquitectura multitenant: una plataforma, muchas empresas aisladas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aislamiento por empresaId es una regla de producto y seguridad.</a:t>
            </a:r>
          </a:p>
        </p:txBody>
      </p:sp>
      <p:sp>
        <p:nvSpPr>
          <p:cNvPr id="10" name="Shape"/>
          <p:cNvSpPr/>
          <p:nvPr/>
        </p:nvSpPr>
        <p:spPr>
          <a:xfrm>
            <a:off x="857250" y="1809750"/>
            <a:ext cx="2476500" cy="28575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104900" y="2057400"/>
            <a:ext cx="20002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Aptos"/>
              </a:rPr>
              <a:t>Nivel 0</a:t>
            </a:r>
          </a:p>
          <a:p>
            <a:pPr marL="0" indent="0" spcBef="300"/>
            <a:r>
              <a:rPr sz="1900" b="1">
                <a:solidFill>
                  <a:srgbClr val="2563EB"/>
                </a:solidFill>
                <a:latin typeface="Aptos"/>
              </a:rPr>
              <a:t>Plataforma SaaS</a:t>
            </a:r>
          </a:p>
        </p:txBody>
      </p:sp>
      <p:sp>
        <p:nvSpPr>
          <p:cNvPr id="12" name="Shape"/>
          <p:cNvSpPr/>
          <p:nvPr/>
        </p:nvSpPr>
        <p:spPr>
          <a:xfrm>
            <a:off x="4572000" y="1428750"/>
            <a:ext cx="2857500" cy="36195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4857750" y="167640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900" b="1">
                <a:solidFill>
                  <a:srgbClr val="166534"/>
                </a:solidFill>
                <a:latin typeface="Aptos"/>
              </a:rPr>
              <a:t>Nivel 1</a:t>
            </a:r>
          </a:p>
          <a:p>
            <a:pPr marL="0" indent="0" spcBef="300"/>
            <a:r>
              <a:rPr sz="1900" b="1">
                <a:solidFill>
                  <a:srgbClr val="166534"/>
                </a:solidFill>
                <a:latin typeface="Aptos"/>
              </a:rPr>
              <a:t>Empresa cliente</a:t>
            </a:r>
          </a:p>
        </p:txBody>
      </p:sp>
      <p:sp>
        <p:nvSpPr>
          <p:cNvPr id="14" name="Shape"/>
          <p:cNvSpPr/>
          <p:nvPr/>
        </p:nvSpPr>
        <p:spPr>
          <a:xfrm>
            <a:off x="8572500" y="2000250"/>
            <a:ext cx="2381250" cy="24765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8839200" y="2266950"/>
            <a:ext cx="18669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900" b="1">
                <a:solidFill>
                  <a:srgbClr val="92400E"/>
                </a:solidFill>
                <a:latin typeface="Aptos"/>
              </a:rPr>
              <a:t>Nivel 2</a:t>
            </a:r>
          </a:p>
          <a:p>
            <a:pPr marL="0" indent="0" spcBef="300"/>
            <a:r>
              <a:rPr sz="1900" b="1">
                <a:solidFill>
                  <a:srgbClr val="92400E"/>
                </a:solidFill>
                <a:latin typeface="Aptos"/>
              </a:rPr>
              <a:t>Clientes / leads</a:t>
            </a:r>
          </a:p>
        </p:txBody>
      </p:sp>
      <p:cxnSp>
        <p:nvCxnSpPr>
          <p:cNvPr id="20" name="Connector"/>
          <p:cNvCxnSpPr/>
          <p:nvPr/>
        </p:nvCxnSpPr>
        <p:spPr>
          <a:xfrm>
            <a:off x="3333750" y="3238500"/>
            <a:ext cx="1238250" cy="9525"/>
          </a:xfrm>
          <a:prstGeom prst="line">
            <a:avLst/>
          </a:prstGeom>
          <a:ln w="38100">
            <a:solidFill>
              <a:srgbClr val="2563EB"/>
            </a:solidFill>
          </a:ln>
        </p:spPr>
      </p:cxnSp>
      <p:cxnSp>
        <p:nvCxnSpPr>
          <p:cNvPr id="21" name="Connector"/>
          <p:cNvCxnSpPr/>
          <p:nvPr/>
        </p:nvCxnSpPr>
        <p:spPr>
          <a:xfrm>
            <a:off x="7429500" y="3238500"/>
            <a:ext cx="1143000" cy="9525"/>
          </a:xfrm>
          <a:prstGeom prst="line">
            <a:avLst/>
          </a:prstGeom>
          <a:ln w="38100">
            <a:solidFill>
              <a:srgbClr val="2563EB"/>
            </a:solidFill>
          </a:ln>
        </p:spPr>
      </p:cxnSp>
      <p:sp>
        <p:nvSpPr>
          <p:cNvPr id="30" name="Text"/>
          <p:cNvSpPr txBox="1"/>
          <p:nvPr/>
        </p:nvSpPr>
        <p:spPr>
          <a:xfrm>
            <a:off x="1143000" y="3143250"/>
            <a:ext cx="1905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400">
                <a:solidFill>
                  <a:srgbClr val="334155"/>
                </a:solidFill>
                <a:latin typeface="Aptos"/>
              </a:rPr>
              <a:t>Empresas</a:t>
            </a:r>
          </a:p>
          <a:p>
            <a:pPr marL="0" indent="0" spcBef="300"/>
            <a:r>
              <a:rPr sz="1400">
                <a:solidFill>
                  <a:srgbClr val="334155"/>
                </a:solidFill>
                <a:latin typeface="Aptos"/>
              </a:rPr>
              <a:t>Planes</a:t>
            </a:r>
          </a:p>
          <a:p>
            <a:pPr marL="0" indent="0" spcBef="300"/>
            <a:r>
              <a:rPr sz="1400">
                <a:solidFill>
                  <a:srgbClr val="334155"/>
                </a:solidFill>
                <a:latin typeface="Aptos"/>
              </a:rPr>
              <a:t>Pagos</a:t>
            </a:r>
          </a:p>
          <a:p>
            <a:pPr marL="0" indent="0" spcBef="300"/>
            <a:r>
              <a:rPr sz="1400">
                <a:solidFill>
                  <a:srgbClr val="334155"/>
                </a:solidFill>
                <a:latin typeface="Aptos"/>
              </a:rPr>
              <a:t>Soporte</a:t>
            </a:r>
          </a:p>
          <a:p>
            <a:pPr marL="0" indent="0" spcBef="300"/>
            <a:r>
              <a:rPr sz="1400">
                <a:solidFill>
                  <a:srgbClr val="334155"/>
                </a:solidFill>
                <a:latin typeface="Aptos"/>
              </a:rPr>
              <a:t>Consumo IA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4953000" y="2952750"/>
            <a:ext cx="20955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400">
                <a:solidFill>
                  <a:srgbClr val="334155"/>
                </a:solidFill>
                <a:latin typeface="Aptos"/>
              </a:rPr>
              <a:t>Usuarios</a:t>
            </a:r>
          </a:p>
          <a:p>
            <a:pPr marL="0" indent="0" spcBef="300"/>
            <a:r>
              <a:rPr sz="1400">
                <a:solidFill>
                  <a:srgbClr val="334155"/>
                </a:solidFill>
                <a:latin typeface="Aptos"/>
              </a:rPr>
              <a:t>Productos</a:t>
            </a:r>
          </a:p>
          <a:p>
            <a:pPr marL="0" indent="0" spcBef="300"/>
            <a:r>
              <a:rPr sz="1400">
                <a:solidFill>
                  <a:srgbClr val="334155"/>
                </a:solidFill>
                <a:latin typeface="Aptos"/>
              </a:rPr>
              <a:t>CRM</a:t>
            </a:r>
          </a:p>
          <a:p>
            <a:pPr marL="0" indent="0" spcBef="300"/>
            <a:r>
              <a:rPr sz="1400">
                <a:solidFill>
                  <a:srgbClr val="334155"/>
                </a:solidFill>
                <a:latin typeface="Aptos"/>
              </a:rPr>
              <a:t>Campanas</a:t>
            </a:r>
          </a:p>
          <a:p>
            <a:pPr marL="0" indent="0" spcBef="300"/>
            <a:r>
              <a:rPr sz="1400">
                <a:solidFill>
                  <a:srgbClr val="334155"/>
                </a:solidFill>
                <a:latin typeface="Aptos"/>
              </a:rPr>
              <a:t>Automatizacion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8934450" y="3143250"/>
            <a:ext cx="17145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400">
                <a:solidFill>
                  <a:srgbClr val="334155"/>
                </a:solidFill>
                <a:latin typeface="Aptos"/>
              </a:rPr>
              <a:t>Contactos</a:t>
            </a:r>
          </a:p>
          <a:p>
            <a:pPr marL="0" indent="0" spcBef="300"/>
            <a:r>
              <a:rPr sz="1400">
                <a:solidFill>
                  <a:srgbClr val="334155"/>
                </a:solidFill>
                <a:latin typeface="Aptos"/>
              </a:rPr>
              <a:t>Compradores</a:t>
            </a:r>
          </a:p>
          <a:p>
            <a:pPr marL="0" indent="0" spcBef="300"/>
            <a:r>
              <a:rPr sz="1400">
                <a:solidFill>
                  <a:srgbClr val="334155"/>
                </a:solidFill>
                <a:latin typeface="Aptos"/>
              </a:rPr>
              <a:t>Oportunidades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Dos experiencias: control global para el SaaS y operación diaria para cada empresa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producto separa claramente administración de plataforma y trabajo comercial.</a:t>
            </a:r>
          </a:p>
        </p:txBody>
      </p:sp>
      <p:sp>
        <p:nvSpPr>
          <p:cNvPr id="10" name="Shape"/>
          <p:cNvSpPr/>
          <p:nvPr/>
        </p:nvSpPr>
        <p:spPr>
          <a:xfrm>
            <a:off x="742950" y="1714500"/>
            <a:ext cx="4762500" cy="34290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11" name="Text"/>
          <p:cNvSpPr txBox="1"/>
          <p:nvPr/>
        </p:nvSpPr>
        <p:spPr>
          <a:xfrm>
            <a:off x="1047750" y="200025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200" b="1">
                <a:solidFill>
                  <a:srgbClr val="FFFFFF"/>
                </a:solidFill>
                <a:latin typeface="Aptos"/>
              </a:rPr>
              <a:t>Vista Superusuario / Plataforma</a:t>
            </a:r>
          </a:p>
        </p:txBody>
      </p:sp>
      <p:sp>
        <p:nvSpPr>
          <p:cNvPr id="20" name="Shape"/>
          <p:cNvSpPr/>
          <p:nvPr/>
        </p:nvSpPr>
        <p:spPr>
          <a:xfrm>
            <a:off x="1066800" y="2724150"/>
            <a:ext cx="1657350" cy="28575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1" name="Text"/>
          <p:cNvSpPr txBox="1"/>
          <p:nvPr/>
        </p:nvSpPr>
        <p:spPr>
          <a:xfrm>
            <a:off x="1181100" y="27813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Dashboard SaaS</a:t>
            </a:r>
          </a:p>
        </p:txBody>
      </p:sp>
      <p:sp>
        <p:nvSpPr>
          <p:cNvPr id="22" name="Shape"/>
          <p:cNvSpPr/>
          <p:nvPr/>
        </p:nvSpPr>
        <p:spPr>
          <a:xfrm>
            <a:off x="3028950" y="2724150"/>
            <a:ext cx="1657350" cy="28575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23" name="Text"/>
          <p:cNvSpPr txBox="1"/>
          <p:nvPr/>
        </p:nvSpPr>
        <p:spPr>
          <a:xfrm>
            <a:off x="3143250" y="27813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Empresas</a:t>
            </a:r>
          </a:p>
        </p:txBody>
      </p:sp>
      <p:sp>
        <p:nvSpPr>
          <p:cNvPr id="24" name="Shape"/>
          <p:cNvSpPr/>
          <p:nvPr/>
        </p:nvSpPr>
        <p:spPr>
          <a:xfrm>
            <a:off x="1066800" y="3314700"/>
            <a:ext cx="1657350" cy="28575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"/>
          <p:cNvSpPr txBox="1"/>
          <p:nvPr/>
        </p:nvSpPr>
        <p:spPr>
          <a:xfrm>
            <a:off x="1181100" y="33718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Planes / pagos</a:t>
            </a:r>
          </a:p>
        </p:txBody>
      </p:sp>
      <p:sp>
        <p:nvSpPr>
          <p:cNvPr id="26" name="Shape"/>
          <p:cNvSpPr/>
          <p:nvPr/>
        </p:nvSpPr>
        <p:spPr>
          <a:xfrm>
            <a:off x="3028950" y="3314700"/>
            <a:ext cx="1657350" cy="28575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27" name="Text"/>
          <p:cNvSpPr txBox="1"/>
          <p:nvPr/>
        </p:nvSpPr>
        <p:spPr>
          <a:xfrm>
            <a:off x="3143250" y="33718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Soporte asistido</a:t>
            </a:r>
          </a:p>
        </p:txBody>
      </p:sp>
      <p:sp>
        <p:nvSpPr>
          <p:cNvPr id="28" name="Shape"/>
          <p:cNvSpPr/>
          <p:nvPr/>
        </p:nvSpPr>
        <p:spPr>
          <a:xfrm>
            <a:off x="1066800" y="3905250"/>
            <a:ext cx="1657350" cy="28575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9" name="Text"/>
          <p:cNvSpPr txBox="1"/>
          <p:nvPr/>
        </p:nvSpPr>
        <p:spPr>
          <a:xfrm>
            <a:off x="1181100" y="39624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Insights globales</a:t>
            </a:r>
          </a:p>
        </p:txBody>
      </p:sp>
      <p:sp>
        <p:nvSpPr>
          <p:cNvPr id="30" name="Shape"/>
          <p:cNvSpPr/>
          <p:nvPr/>
        </p:nvSpPr>
        <p:spPr>
          <a:xfrm>
            <a:off x="3028950" y="3905250"/>
            <a:ext cx="1657350" cy="28575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31" name="Text"/>
          <p:cNvSpPr txBox="1"/>
          <p:nvPr/>
        </p:nvSpPr>
        <p:spPr>
          <a:xfrm>
            <a:off x="3143250" y="39624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Consumo IA/API</a:t>
            </a:r>
          </a:p>
        </p:txBody>
      </p:sp>
      <p:sp>
        <p:nvSpPr>
          <p:cNvPr id="40" name="Shape"/>
          <p:cNvSpPr/>
          <p:nvPr/>
        </p:nvSpPr>
        <p:spPr>
          <a:xfrm>
            <a:off x="6572250" y="1714500"/>
            <a:ext cx="47625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Text"/>
          <p:cNvSpPr txBox="1"/>
          <p:nvPr/>
        </p:nvSpPr>
        <p:spPr>
          <a:xfrm>
            <a:off x="6896100" y="2000250"/>
            <a:ext cx="4000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200" b="1">
                <a:solidFill>
                  <a:srgbClr val="0F172A"/>
                </a:solidFill>
                <a:latin typeface="Aptos"/>
              </a:rPr>
              <a:t>Vista Empresa Cliente</a:t>
            </a:r>
          </a:p>
        </p:txBody>
      </p:sp>
      <p:sp>
        <p:nvSpPr>
          <p:cNvPr id="50" name="Shape"/>
          <p:cNvSpPr/>
          <p:nvPr/>
        </p:nvSpPr>
        <p:spPr>
          <a:xfrm>
            <a:off x="6896100" y="2724150"/>
            <a:ext cx="1657350" cy="28575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1" name="Text"/>
          <p:cNvSpPr txBox="1"/>
          <p:nvPr/>
        </p:nvSpPr>
        <p:spPr>
          <a:xfrm>
            <a:off x="7010400" y="27813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Productos</a:t>
            </a:r>
          </a:p>
        </p:txBody>
      </p:sp>
      <p:sp>
        <p:nvSpPr>
          <p:cNvPr id="52" name="Shape"/>
          <p:cNvSpPr/>
          <p:nvPr/>
        </p:nvSpPr>
        <p:spPr>
          <a:xfrm>
            <a:off x="8858250" y="2724150"/>
            <a:ext cx="1657350" cy="28575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53" name="Text"/>
          <p:cNvSpPr txBox="1"/>
          <p:nvPr/>
        </p:nvSpPr>
        <p:spPr>
          <a:xfrm>
            <a:off x="8972550" y="27813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Clientes / CRM</a:t>
            </a:r>
          </a:p>
        </p:txBody>
      </p:sp>
      <p:sp>
        <p:nvSpPr>
          <p:cNvPr id="54" name="Shape"/>
          <p:cNvSpPr/>
          <p:nvPr/>
        </p:nvSpPr>
        <p:spPr>
          <a:xfrm>
            <a:off x="6896100" y="3314700"/>
            <a:ext cx="1657350" cy="28575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5" name="Text"/>
          <p:cNvSpPr txBox="1"/>
          <p:nvPr/>
        </p:nvSpPr>
        <p:spPr>
          <a:xfrm>
            <a:off x="7010400" y="33718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Segmentacion</a:t>
            </a:r>
          </a:p>
        </p:txBody>
      </p:sp>
      <p:sp>
        <p:nvSpPr>
          <p:cNvPr id="56" name="Shape"/>
          <p:cNvSpPr/>
          <p:nvPr/>
        </p:nvSpPr>
        <p:spPr>
          <a:xfrm>
            <a:off x="8858250" y="3314700"/>
            <a:ext cx="1657350" cy="28575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57" name="Text"/>
          <p:cNvSpPr txBox="1"/>
          <p:nvPr/>
        </p:nvSpPr>
        <p:spPr>
          <a:xfrm>
            <a:off x="8972550" y="33718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Contenido IA</a:t>
            </a:r>
          </a:p>
        </p:txBody>
      </p:sp>
      <p:sp>
        <p:nvSpPr>
          <p:cNvPr id="58" name="Shape"/>
          <p:cNvSpPr/>
          <p:nvPr/>
        </p:nvSpPr>
        <p:spPr>
          <a:xfrm>
            <a:off x="6896100" y="3905250"/>
            <a:ext cx="1657350" cy="28575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9" name="Text"/>
          <p:cNvSpPr txBox="1"/>
          <p:nvPr/>
        </p:nvSpPr>
        <p:spPr>
          <a:xfrm>
            <a:off x="7010400" y="39624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Campanas</a:t>
            </a:r>
          </a:p>
        </p:txBody>
      </p:sp>
      <p:sp>
        <p:nvSpPr>
          <p:cNvPr id="60" name="Shape"/>
          <p:cNvSpPr/>
          <p:nvPr/>
        </p:nvSpPr>
        <p:spPr>
          <a:xfrm>
            <a:off x="8858250" y="3905250"/>
            <a:ext cx="1657350" cy="28575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61" name="Text"/>
          <p:cNvSpPr txBox="1"/>
          <p:nvPr/>
        </p:nvSpPr>
        <p:spPr>
          <a:xfrm>
            <a:off x="8972550" y="39624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WhatsApp</a:t>
            </a:r>
          </a:p>
        </p:txBody>
      </p:sp>
      <p:sp>
        <p:nvSpPr>
          <p:cNvPr id="8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RBAC dinamico: permisos cifrados, sidebar adaptable y validacion real en backend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sidebar no es seguridad; solo refleja permisos descifrados.</a:t>
            </a:r>
          </a:p>
        </p:txBody>
      </p:sp>
      <p:sp>
        <p:nvSpPr>
          <p:cNvPr id="10" name="Shape"/>
          <p:cNvSpPr/>
          <p:nvPr/>
        </p:nvSpPr>
        <p:spPr>
          <a:xfrm>
            <a:off x="857250" y="2476500"/>
            <a:ext cx="2095500" cy="1428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0" name="Text"/>
          <p:cNvSpPr txBox="1"/>
          <p:nvPr/>
        </p:nvSpPr>
        <p:spPr>
          <a:xfrm>
            <a:off x="1066800" y="2743200"/>
            <a:ext cx="167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Matriz CRUD + actions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1066800" y="3314700"/>
            <a:ext cx="16764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50">
                <a:solidFill>
                  <a:srgbClr val="FFFFFF"/>
                </a:solidFill>
                <a:latin typeface="Aptos"/>
              </a:rPr>
              <a:t>read, create, update, delete + approve, publish, export</a:t>
            </a:r>
          </a:p>
        </p:txBody>
      </p:sp>
      <p:sp>
        <p:nvSpPr>
          <p:cNvPr id="11" name="Shape"/>
          <p:cNvSpPr/>
          <p:nvPr/>
        </p:nvSpPr>
        <p:spPr>
          <a:xfrm>
            <a:off x="3524250" y="2476500"/>
            <a:ext cx="2095500" cy="142875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31" name="Text"/>
          <p:cNvSpPr txBox="1"/>
          <p:nvPr/>
        </p:nvSpPr>
        <p:spPr>
          <a:xfrm>
            <a:off x="3733800" y="2743200"/>
            <a:ext cx="167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hashPermission cifrado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3733800" y="3314700"/>
            <a:ext cx="16764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50">
                <a:solidFill>
                  <a:srgbClr val="FFFFFF"/>
                </a:solidFill>
                <a:latin typeface="Aptos"/>
              </a:rPr>
              <a:t>JSON serializado, cifrado y versionado por rol</a:t>
            </a:r>
          </a:p>
        </p:txBody>
      </p:sp>
      <p:sp>
        <p:nvSpPr>
          <p:cNvPr id="12" name="Shape"/>
          <p:cNvSpPr/>
          <p:nvPr/>
        </p:nvSpPr>
        <p:spPr>
          <a:xfrm>
            <a:off x="6191250" y="2476500"/>
            <a:ext cx="2095500" cy="1428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2" name="Text"/>
          <p:cNvSpPr txBox="1"/>
          <p:nvPr/>
        </p:nvSpPr>
        <p:spPr>
          <a:xfrm>
            <a:off x="6400800" y="2743200"/>
            <a:ext cx="167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Login reconstruye permisos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6400800" y="3314700"/>
            <a:ext cx="16764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50">
                <a:solidFill>
                  <a:srgbClr val="FFFFFF"/>
                </a:solidFill>
                <a:latin typeface="Aptos"/>
              </a:rPr>
              <a:t>Descifra, sincroniza modulos faltantes y arma sidebar</a:t>
            </a:r>
          </a:p>
        </p:txBody>
      </p:sp>
      <p:sp>
        <p:nvSpPr>
          <p:cNvPr id="13" name="Shape"/>
          <p:cNvSpPr/>
          <p:nvPr/>
        </p:nvSpPr>
        <p:spPr>
          <a:xfrm>
            <a:off x="8858250" y="2476500"/>
            <a:ext cx="2095500" cy="14287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3" name="Text"/>
          <p:cNvSpPr txBox="1"/>
          <p:nvPr/>
        </p:nvSpPr>
        <p:spPr>
          <a:xfrm>
            <a:off x="9067800" y="2743200"/>
            <a:ext cx="167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Backend valida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9067800" y="3314700"/>
            <a:ext cx="16764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50">
                <a:solidFill>
                  <a:srgbClr val="FFFFFF"/>
                </a:solidFill>
                <a:latin typeface="Aptos"/>
              </a:rPr>
              <a:t>requirePermission protege CRUD y acciones reales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La identidad de marca alimenta la IA sin contaminar los datos legales de la empresa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Company administra datos administrativos; BrandProfile guarda la voz y el sistema visual.</a:t>
            </a:r>
          </a:p>
        </p:txBody>
      </p:sp>
      <p:sp>
        <p:nvSpPr>
          <p:cNvPr id="10" name="Shape"/>
          <p:cNvSpPr/>
          <p:nvPr/>
        </p:nvSpPr>
        <p:spPr>
          <a:xfrm>
            <a:off x="1066800" y="1714500"/>
            <a:ext cx="4000500" cy="314325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352550" y="2038350"/>
            <a:ext cx="3333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800" b="1">
                <a:solidFill>
                  <a:srgbClr val="2563EB"/>
                </a:solidFill>
                <a:latin typeface="Aptos"/>
              </a:rPr>
              <a:t>Company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371600" y="2714625"/>
            <a:ext cx="314325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700">
                <a:solidFill>
                  <a:srgbClr val="334155"/>
                </a:solidFill>
                <a:latin typeface="Aptos"/>
              </a:rPr>
              <a:t>Nombre legal</a:t>
            </a:r>
          </a:p>
          <a:p>
            <a:pPr marL="0" indent="0" spcBef="300"/>
            <a:r>
              <a:rPr sz="1700">
                <a:solidFill>
                  <a:srgbClr val="334155"/>
                </a:solidFill>
                <a:latin typeface="Aptos"/>
              </a:rPr>
              <a:t>NIT / taxId</a:t>
            </a:r>
          </a:p>
          <a:p>
            <a:pPr marL="0" indent="0" spcBef="300"/>
            <a:r>
              <a:rPr sz="1700">
                <a:solidFill>
                  <a:srgbClr val="334155"/>
                </a:solidFill>
                <a:latin typeface="Aptos"/>
              </a:rPr>
              <a:t>Sector, pais, ciudad</a:t>
            </a:r>
          </a:p>
          <a:p>
            <a:pPr marL="0" indent="0" spcBef="300"/>
            <a:r>
              <a:rPr sz="1700">
                <a:solidFill>
                  <a:srgbClr val="334155"/>
                </a:solidFill>
                <a:latin typeface="Aptos"/>
              </a:rPr>
              <a:t>Telefono, WhatsApp, email</a:t>
            </a:r>
          </a:p>
          <a:p>
            <a:pPr marL="0" indent="0" spcBef="300"/>
            <a:r>
              <a:rPr sz="1700">
                <a:solidFill>
                  <a:srgbClr val="334155"/>
                </a:solidFill>
                <a:latin typeface="Aptos"/>
              </a:rPr>
              <a:t>Estado de la empresa</a:t>
            </a:r>
          </a:p>
        </p:txBody>
      </p:sp>
      <p:sp>
        <p:nvSpPr>
          <p:cNvPr id="20" name="Shape"/>
          <p:cNvSpPr/>
          <p:nvPr/>
        </p:nvSpPr>
        <p:spPr>
          <a:xfrm>
            <a:off x="6572250" y="1714500"/>
            <a:ext cx="4000500" cy="314325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6858000" y="2038350"/>
            <a:ext cx="3333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800" b="1">
                <a:solidFill>
                  <a:srgbClr val="166534"/>
                </a:solidFill>
                <a:latin typeface="Aptos"/>
              </a:rPr>
              <a:t>BrandProfile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877050" y="2714625"/>
            <a:ext cx="314325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700">
                <a:solidFill>
                  <a:srgbClr val="334155"/>
                </a:solidFill>
                <a:latin typeface="Aptos"/>
              </a:rPr>
              <a:t>Logo y colores</a:t>
            </a:r>
          </a:p>
          <a:p>
            <a:pPr marL="0" indent="0" spcBef="300"/>
            <a:r>
              <a:rPr sz="1700">
                <a:solidFill>
                  <a:srgbClr val="334155"/>
                </a:solidFill>
                <a:latin typeface="Aptos"/>
              </a:rPr>
              <a:t>Tipografias</a:t>
            </a:r>
          </a:p>
          <a:p>
            <a:pPr marL="0" indent="0" spcBef="300"/>
            <a:r>
              <a:rPr sz="1700">
                <a:solidFill>
                  <a:srgbClr val="334155"/>
                </a:solidFill>
                <a:latin typeface="Aptos"/>
              </a:rPr>
              <a:t>Tono de comunicacion</a:t>
            </a:r>
          </a:p>
          <a:p>
            <a:pPr marL="0" indent="0" spcBef="300"/>
            <a:r>
              <a:rPr sz="1700">
                <a:solidFill>
                  <a:srgbClr val="334155"/>
                </a:solidFill>
                <a:latin typeface="Aptos"/>
              </a:rPr>
              <a:t>Slogan y manual de marca</a:t>
            </a:r>
          </a:p>
          <a:p>
            <a:pPr marL="0" indent="0" spcBef="300"/>
            <a:r>
              <a:rPr sz="1700">
                <a:solidFill>
                  <a:srgbClr val="334155"/>
                </a:solidFill>
                <a:latin typeface="Aptos"/>
              </a:rPr>
              <a:t>Reglas para contenido IA</a:t>
            </a:r>
          </a:p>
        </p:txBody>
      </p:sp>
      <p:cxnSp>
        <p:nvCxnSpPr>
          <p:cNvPr id="30" name="Connector"/>
          <p:cNvCxnSpPr/>
          <p:nvPr/>
        </p:nvCxnSpPr>
        <p:spPr>
          <a:xfrm>
            <a:off x="5067300" y="3295650"/>
            <a:ext cx="1504950" cy="9525"/>
          </a:xfrm>
          <a:prstGeom prst="line">
            <a:avLst/>
          </a:prstGeom>
          <a:ln w="50800">
            <a:solidFill>
              <a:srgbClr val="CBD5E1"/>
            </a:solidFill>
          </a:ln>
        </p:spPr>
      </p:cxnSp>
      <p:sp>
        <p:nvSpPr>
          <p:cNvPr id="31" name="Text"/>
          <p:cNvSpPr txBox="1"/>
          <p:nvPr/>
        </p:nvSpPr>
        <p:spPr>
          <a:xfrm>
            <a:off x="5372100" y="3581400"/>
            <a:ext cx="914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00">
                <a:solidFill>
                  <a:srgbClr val="64748B"/>
                </a:solidFill>
                <a:latin typeface="Aptos"/>
              </a:rPr>
              <a:t>relacion 1:1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El motor de campanas soporta marketing manual y data-driven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Ambos flujos terminan en aprobacion, publicacion y aprendizaje comercial.</a:t>
            </a:r>
          </a:p>
        </p:txBody>
      </p:sp>
      <p:pic>
        <p:nvPicPr>
          <p:cNvPr id="4" name="Campaign mockup"/>
          <p:cNvPicPr>
            <a:picLocks noChangeAspect="1"/>
          </p:cNvPicPr>
          <p:nvPr/>
        </p:nvPicPr>
        <p:blipFill>
          <a:blip r:embed="rImg2"/>
          <a:stretch>
            <a:fillRect/>
          </a:stretch>
        </p:blipFill>
        <p:spPr>
          <a:xfrm>
            <a:off x="7239000" y="1219200"/>
            <a:ext cx="3905250" cy="2333625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876300" y="180975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200" b="1">
                <a:solidFill>
                  <a:srgbClr val="2563EB"/>
                </a:solidFill>
                <a:latin typeface="Aptos"/>
              </a:rPr>
              <a:t>Flujo A: producto a campana</a:t>
            </a:r>
          </a:p>
        </p:txBody>
      </p:sp>
      <p:sp>
        <p:nvSpPr>
          <p:cNvPr id="20" name="Shape"/>
          <p:cNvSpPr/>
          <p:nvPr/>
        </p:nvSpPr>
        <p:spPr>
          <a:xfrm>
            <a:off x="895350" y="2381250"/>
            <a:ext cx="838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40" name="Text"/>
          <p:cNvSpPr txBox="1"/>
          <p:nvPr/>
        </p:nvSpPr>
        <p:spPr>
          <a:xfrm>
            <a:off x="971550" y="251460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20" b="1">
                <a:solidFill>
                  <a:srgbClr val="2563EB"/>
                </a:solidFill>
                <a:latin typeface="Aptos"/>
              </a:rPr>
              <a:t>Producto</a:t>
            </a:r>
          </a:p>
        </p:txBody>
      </p:sp>
      <p:sp>
        <p:nvSpPr>
          <p:cNvPr id="21" name="Shape"/>
          <p:cNvSpPr/>
          <p:nvPr/>
        </p:nvSpPr>
        <p:spPr>
          <a:xfrm>
            <a:off x="1885950" y="2381250"/>
            <a:ext cx="838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41" name="Text"/>
          <p:cNvSpPr txBox="1"/>
          <p:nvPr/>
        </p:nvSpPr>
        <p:spPr>
          <a:xfrm>
            <a:off x="1962150" y="251460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20" b="1">
                <a:solidFill>
                  <a:srgbClr val="2563EB"/>
                </a:solidFill>
                <a:latin typeface="Aptos"/>
              </a:rPr>
              <a:t>Segmento</a:t>
            </a:r>
          </a:p>
        </p:txBody>
      </p:sp>
      <p:sp>
        <p:nvSpPr>
          <p:cNvPr id="22" name="Shape"/>
          <p:cNvSpPr/>
          <p:nvPr/>
        </p:nvSpPr>
        <p:spPr>
          <a:xfrm>
            <a:off x="2876550" y="2381250"/>
            <a:ext cx="838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42" name="Text"/>
          <p:cNvSpPr txBox="1"/>
          <p:nvPr/>
        </p:nvSpPr>
        <p:spPr>
          <a:xfrm>
            <a:off x="2952750" y="251460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20" b="1">
                <a:solidFill>
                  <a:srgbClr val="2563EB"/>
                </a:solidFill>
                <a:latin typeface="Aptos"/>
              </a:rPr>
              <a:t>Contenido IA</a:t>
            </a:r>
          </a:p>
        </p:txBody>
      </p:sp>
      <p:sp>
        <p:nvSpPr>
          <p:cNvPr id="23" name="Shape"/>
          <p:cNvSpPr/>
          <p:nvPr/>
        </p:nvSpPr>
        <p:spPr>
          <a:xfrm>
            <a:off x="3867150" y="2381250"/>
            <a:ext cx="838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43" name="Text"/>
          <p:cNvSpPr txBox="1"/>
          <p:nvPr/>
        </p:nvSpPr>
        <p:spPr>
          <a:xfrm>
            <a:off x="3943350" y="251460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20" b="1">
                <a:solidFill>
                  <a:srgbClr val="2563EB"/>
                </a:solidFill>
                <a:latin typeface="Aptos"/>
              </a:rPr>
              <a:t>Aprobacion</a:t>
            </a:r>
          </a:p>
        </p:txBody>
      </p:sp>
      <p:sp>
        <p:nvSpPr>
          <p:cNvPr id="24" name="Shape"/>
          <p:cNvSpPr/>
          <p:nvPr/>
        </p:nvSpPr>
        <p:spPr>
          <a:xfrm>
            <a:off x="4857750" y="2381250"/>
            <a:ext cx="838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44" name="Text"/>
          <p:cNvSpPr txBox="1"/>
          <p:nvPr/>
        </p:nvSpPr>
        <p:spPr>
          <a:xfrm>
            <a:off x="4933950" y="251460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20" b="1">
                <a:solidFill>
                  <a:srgbClr val="2563EB"/>
                </a:solidFill>
                <a:latin typeface="Aptos"/>
              </a:rPr>
              <a:t>Publicacion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876300" y="37338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200" b="1">
                <a:solidFill>
                  <a:srgbClr val="16A34A"/>
                </a:solidFill>
                <a:latin typeface="Aptos"/>
              </a:rPr>
              <a:t>Flujo B: cliente/segmento a oportunidad</a:t>
            </a:r>
          </a:p>
        </p:txBody>
      </p:sp>
      <p:sp>
        <p:nvSpPr>
          <p:cNvPr id="60" name="Shape"/>
          <p:cNvSpPr/>
          <p:nvPr/>
        </p:nvSpPr>
        <p:spPr>
          <a:xfrm>
            <a:off x="895350" y="4305300"/>
            <a:ext cx="8382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80" name="Text"/>
          <p:cNvSpPr txBox="1"/>
          <p:nvPr/>
        </p:nvSpPr>
        <p:spPr>
          <a:xfrm>
            <a:off x="971550" y="443865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20" b="1">
                <a:solidFill>
                  <a:srgbClr val="166534"/>
                </a:solidFill>
                <a:latin typeface="Aptos"/>
              </a:rPr>
              <a:t>Clientes</a:t>
            </a:r>
          </a:p>
        </p:txBody>
      </p:sp>
      <p:sp>
        <p:nvSpPr>
          <p:cNvPr id="61" name="Shape"/>
          <p:cNvSpPr/>
          <p:nvPr/>
        </p:nvSpPr>
        <p:spPr>
          <a:xfrm>
            <a:off x="1885950" y="4305300"/>
            <a:ext cx="8382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81" name="Text"/>
          <p:cNvSpPr txBox="1"/>
          <p:nvPr/>
        </p:nvSpPr>
        <p:spPr>
          <a:xfrm>
            <a:off x="1962150" y="443865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20" b="1">
                <a:solidFill>
                  <a:srgbClr val="166534"/>
                </a:solidFill>
                <a:latin typeface="Aptos"/>
              </a:rPr>
              <a:t>Segmento</a:t>
            </a:r>
          </a:p>
        </p:txBody>
      </p:sp>
      <p:sp>
        <p:nvSpPr>
          <p:cNvPr id="62" name="Shape"/>
          <p:cNvSpPr/>
          <p:nvPr/>
        </p:nvSpPr>
        <p:spPr>
          <a:xfrm>
            <a:off x="2876550" y="4305300"/>
            <a:ext cx="8382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82" name="Text"/>
          <p:cNvSpPr txBox="1"/>
          <p:nvPr/>
        </p:nvSpPr>
        <p:spPr>
          <a:xfrm>
            <a:off x="2952750" y="443865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20" b="1">
                <a:solidFill>
                  <a:srgbClr val="166534"/>
                </a:solidFill>
                <a:latin typeface="Aptos"/>
              </a:rPr>
              <a:t>IA sugiere</a:t>
            </a:r>
          </a:p>
        </p:txBody>
      </p:sp>
      <p:sp>
        <p:nvSpPr>
          <p:cNvPr id="63" name="Shape"/>
          <p:cNvSpPr/>
          <p:nvPr/>
        </p:nvSpPr>
        <p:spPr>
          <a:xfrm>
            <a:off x="3867150" y="4305300"/>
            <a:ext cx="8382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83" name="Text"/>
          <p:cNvSpPr txBox="1"/>
          <p:nvPr/>
        </p:nvSpPr>
        <p:spPr>
          <a:xfrm>
            <a:off x="3943350" y="443865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20" b="1">
                <a:solidFill>
                  <a:srgbClr val="166534"/>
                </a:solidFill>
                <a:latin typeface="Aptos"/>
              </a:rPr>
              <a:t>Aprobacion</a:t>
            </a:r>
          </a:p>
        </p:txBody>
      </p:sp>
      <p:sp>
        <p:nvSpPr>
          <p:cNvPr id="64" name="Shape"/>
          <p:cNvSpPr/>
          <p:nvPr/>
        </p:nvSpPr>
        <p:spPr>
          <a:xfrm>
            <a:off x="4857750" y="4305300"/>
            <a:ext cx="8382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84" name="Text"/>
          <p:cNvSpPr txBox="1"/>
          <p:nvPr/>
        </p:nvSpPr>
        <p:spPr>
          <a:xfrm>
            <a:off x="4933950" y="443865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120" b="1">
                <a:solidFill>
                  <a:srgbClr val="166534"/>
                </a:solidFill>
                <a:latin typeface="Aptos"/>
              </a:rPr>
              <a:t>Venta</a:t>
            </a:r>
          </a:p>
        </p:txBody>
      </p:sp>
      <p:sp>
        <p:nvSpPr>
          <p:cNvPr id="9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CRM integrado: cada lead queda conectado a segmentos, campanas y ventas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La empresa puede leer origen, historial, asignacion y resultado.</a:t>
            </a:r>
          </a:p>
        </p:txBody>
      </p:sp>
      <p:pic>
        <p:nvPicPr>
          <p:cNvPr id="4" name="Mobile WhatsApp mockup"/>
          <p:cNvPicPr>
            <a:picLocks noChangeAspect="1"/>
          </p:cNvPicPr>
          <p:nvPr/>
        </p:nvPicPr>
        <p:blipFill>
          <a:blip r:embed="rImg3"/>
          <a:stretch>
            <a:fillRect/>
          </a:stretch>
        </p:blipFill>
        <p:spPr>
          <a:xfrm>
            <a:off x="7886700" y="1352550"/>
            <a:ext cx="2667000" cy="3429000"/>
          </a:xfrm>
          <a:prstGeom prst="rect">
            <a:avLst/>
          </a:prstGeom>
        </p:spPr>
      </p:pic>
      <p:sp>
        <p:nvSpPr>
          <p:cNvPr id="10" name="Shape"/>
          <p:cNvSpPr/>
          <p:nvPr/>
        </p:nvSpPr>
        <p:spPr>
          <a:xfrm>
            <a:off x="838200" y="1676400"/>
            <a:ext cx="561975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1066800" y="1790700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700" b="1">
                <a:solidFill>
                  <a:srgbClr val="2563EB"/>
                </a:solidFill>
                <a:latin typeface="Aptos"/>
              </a:rPr>
              <a:t>Captura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2647950" y="1809750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500">
                <a:solidFill>
                  <a:srgbClr val="334155"/>
                </a:solidFill>
                <a:latin typeface="Aptos"/>
              </a:rPr>
              <a:t>Meta, WhatsApp, formularios o carga manual</a:t>
            </a:r>
          </a:p>
        </p:txBody>
      </p:sp>
      <p:sp>
        <p:nvSpPr>
          <p:cNvPr id="11" name="Shape"/>
          <p:cNvSpPr/>
          <p:nvPr/>
        </p:nvSpPr>
        <p:spPr>
          <a:xfrm>
            <a:off x="838200" y="2495550"/>
            <a:ext cx="561975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1066800" y="2609850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700" b="1">
                <a:solidFill>
                  <a:srgbClr val="16A34A"/>
                </a:solidFill>
                <a:latin typeface="Aptos"/>
              </a:rPr>
              <a:t>Clasificacion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2647950" y="2628900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500">
                <a:solidFill>
                  <a:srgbClr val="334155"/>
                </a:solidFill>
                <a:latin typeface="Aptos"/>
              </a:rPr>
              <a:t>lead, prospect, customer</a:t>
            </a:r>
          </a:p>
        </p:txBody>
      </p:sp>
      <p:sp>
        <p:nvSpPr>
          <p:cNvPr id="12" name="Shape"/>
          <p:cNvSpPr/>
          <p:nvPr/>
        </p:nvSpPr>
        <p:spPr>
          <a:xfrm>
            <a:off x="838200" y="3314700"/>
            <a:ext cx="561975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1066800" y="3429000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700" b="1">
                <a:solidFill>
                  <a:srgbClr val="F59E0B"/>
                </a:solidFill>
                <a:latin typeface="Aptos"/>
              </a:rPr>
              <a:t>Segmentacion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2647950" y="3448050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500">
                <a:solidFill>
                  <a:srgbClr val="334155"/>
                </a:solidFill>
                <a:latin typeface="Aptos"/>
              </a:rPr>
              <a:t>manual o por criterios JSON</a:t>
            </a:r>
          </a:p>
        </p:txBody>
      </p:sp>
      <p:sp>
        <p:nvSpPr>
          <p:cNvPr id="13" name="Shape"/>
          <p:cNvSpPr/>
          <p:nvPr/>
        </p:nvSpPr>
        <p:spPr>
          <a:xfrm>
            <a:off x="838200" y="4133850"/>
            <a:ext cx="561975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1066800" y="4248150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700" b="1">
                <a:solidFill>
                  <a:srgbClr val="0EA5E9"/>
                </a:solidFill>
                <a:latin typeface="Aptos"/>
              </a:rPr>
              <a:t>Asignacion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2647950" y="4267200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500">
                <a:solidFill>
                  <a:srgbClr val="334155"/>
                </a:solidFill>
                <a:latin typeface="Aptos"/>
              </a:rPr>
              <a:t>vendedor, soporte o automatizacion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Contenido con IA: de ficha de producto a piezas listas para revisar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La IA no publica sola: genera variaciones que pasan por aprobacion.</a:t>
            </a:r>
          </a:p>
        </p:txBody>
      </p:sp>
      <p:sp>
        <p:nvSpPr>
          <p:cNvPr id="10" name="Shape"/>
          <p:cNvSpPr/>
          <p:nvPr/>
        </p:nvSpPr>
        <p:spPr>
          <a:xfrm>
            <a:off x="876300" y="1809750"/>
            <a:ext cx="2571750" cy="295275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181100" y="2133600"/>
            <a:ext cx="19621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Input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38250" y="2857500"/>
            <a:ext cx="18669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600">
                <a:solidFill>
                  <a:srgbClr val="334155"/>
                </a:solidFill>
                <a:latin typeface="Aptos"/>
              </a:rPr>
              <a:t>Producto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BrandProfile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Segmento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Objetivo comercial</a:t>
            </a:r>
          </a:p>
        </p:txBody>
      </p:sp>
      <p:sp>
        <p:nvSpPr>
          <p:cNvPr id="20" name="Shape"/>
          <p:cNvSpPr/>
          <p:nvPr/>
        </p:nvSpPr>
        <p:spPr>
          <a:xfrm>
            <a:off x="4476750" y="1428750"/>
            <a:ext cx="2952750" cy="371475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21" name="Text"/>
          <p:cNvSpPr txBox="1"/>
          <p:nvPr/>
        </p:nvSpPr>
        <p:spPr>
          <a:xfrm>
            <a:off x="4876800" y="18478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Generador IA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4857750" y="2781300"/>
            <a:ext cx="2238375" cy="933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700">
                <a:solidFill>
                  <a:srgbClr val="FFFFFF"/>
                </a:solidFill>
                <a:latin typeface="Aptos"/>
              </a:rPr>
              <a:t>Flyer</a:t>
            </a:r>
          </a:p>
          <a:p>
            <a:pPr marL="0" indent="0" spcBef="300"/>
            <a:r>
              <a:rPr sz="1700">
                <a:solidFill>
                  <a:srgbClr val="FFFFFF"/>
                </a:solidFill>
                <a:latin typeface="Aptos"/>
              </a:rPr>
              <a:t>Texto publicitario</a:t>
            </a:r>
          </a:p>
          <a:p>
            <a:pPr marL="0" indent="0" spcBef="300"/>
            <a:r>
              <a:rPr sz="1700">
                <a:solidFill>
                  <a:srgbClr val="FFFFFF"/>
                </a:solidFill>
                <a:latin typeface="Aptos"/>
              </a:rPr>
              <a:t>Variaciones de anuncio</a:t>
            </a:r>
          </a:p>
          <a:p>
            <a:pPr marL="0" indent="0" spcBef="300"/>
            <a:r>
              <a:rPr sz="1700">
                <a:solidFill>
                  <a:srgbClr val="FFFFFF"/>
                </a:solidFill>
                <a:latin typeface="Aptos"/>
              </a:rPr>
              <a:t>Caption y CTA</a:t>
            </a:r>
          </a:p>
        </p:txBody>
      </p:sp>
      <p:sp>
        <p:nvSpPr>
          <p:cNvPr id="30" name="Shape"/>
          <p:cNvSpPr/>
          <p:nvPr/>
        </p:nvSpPr>
        <p:spPr>
          <a:xfrm>
            <a:off x="8572500" y="1809750"/>
            <a:ext cx="2571750" cy="295275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8953500" y="2133600"/>
            <a:ext cx="1809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2500" b="1">
                <a:solidFill>
                  <a:srgbClr val="166534"/>
                </a:solidFill>
                <a:latin typeface="Aptos"/>
              </a:rPr>
              <a:t>Salida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8915400" y="2876550"/>
            <a:ext cx="18669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700">
                <a:solidFill>
                  <a:srgbClr val="334155"/>
                </a:solidFill>
                <a:latin typeface="Aptos"/>
              </a:rPr>
              <a:t>Aprobar</a:t>
            </a:r>
          </a:p>
          <a:p>
            <a:pPr marL="0" indent="0" spcBef="300"/>
            <a:r>
              <a:rPr sz="1700">
                <a:solidFill>
                  <a:srgbClr val="334155"/>
                </a:solidFill>
                <a:latin typeface="Aptos"/>
              </a:rPr>
              <a:t>Programar</a:t>
            </a:r>
          </a:p>
          <a:p>
            <a:pPr marL="0" indent="0" spcBef="300"/>
            <a:r>
              <a:rPr sz="1700">
                <a:solidFill>
                  <a:srgbClr val="334155"/>
                </a:solidFill>
                <a:latin typeface="Aptos"/>
              </a:rPr>
              <a:t>Publicar</a:t>
            </a:r>
          </a:p>
          <a:p>
            <a:pPr marL="0" indent="0" spcBef="300"/>
            <a:r>
              <a:rPr sz="1700">
                <a:solidFill>
                  <a:srgbClr val="334155"/>
                </a:solidFill>
                <a:latin typeface="Aptos"/>
              </a:rPr>
              <a:t>Medir</a:t>
            </a:r>
          </a:p>
        </p:txBody>
      </p:sp>
      <p:cxnSp>
        <p:nvCxnSpPr>
          <p:cNvPr id="40" name="Connector"/>
          <p:cNvCxnSpPr/>
          <p:nvPr/>
        </p:nvCxnSpPr>
        <p:spPr>
          <a:xfrm>
            <a:off x="3448050" y="3295650"/>
            <a:ext cx="1028700" cy="9525"/>
          </a:xfrm>
          <a:prstGeom prst="line">
            <a:avLst/>
          </a:prstGeom>
          <a:ln w="38100">
            <a:solidFill>
              <a:srgbClr val="2563EB"/>
            </a:solidFill>
          </a:ln>
        </p:spPr>
      </p:cxnSp>
      <p:cxnSp>
        <p:nvCxnSpPr>
          <p:cNvPr id="41" name="Connector"/>
          <p:cNvCxnSpPr/>
          <p:nvPr/>
        </p:nvCxnSpPr>
        <p:spPr>
          <a:xfrm>
            <a:off x="7429500" y="3295650"/>
            <a:ext cx="1143000" cy="9525"/>
          </a:xfrm>
          <a:prstGeom prst="line">
            <a:avLst/>
          </a:prstGeom>
          <a:ln w="38100">
            <a:solidFill>
              <a:srgbClr val="16A34A"/>
            </a:solidFill>
          </a:ln>
        </p:spPr>
      </p:cxnSp>
      <p:sp>
        <p:nvSpPr>
          <p:cNvPr id="5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Meta y WhatsApp entran por fases para validar mercado sin sobreconstruir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MVP prioriza publicacion basica y mensajes; Ads/API oficial quedan como expansion.</a:t>
            </a:r>
          </a:p>
        </p:txBody>
      </p:sp>
      <p:pic>
        <p:nvPicPr>
          <p:cNvPr id="4" name="WhatsApp mockup"/>
          <p:cNvPicPr>
            <a:picLocks noChangeAspect="1"/>
          </p:cNvPicPr>
          <p:nvPr/>
        </p:nvPicPr>
        <p:blipFill>
          <a:blip r:embed="rImg3"/>
          <a:stretch>
            <a:fillRect/>
          </a:stretch>
        </p:blipFill>
        <p:spPr>
          <a:xfrm>
            <a:off x="7810500" y="1524000"/>
            <a:ext cx="2476500" cy="3190875"/>
          </a:xfrm>
          <a:prstGeom prst="rect">
            <a:avLst/>
          </a:prstGeom>
        </p:spPr>
      </p:pic>
      <p:sp>
        <p:nvSpPr>
          <p:cNvPr id="10" name="Shape"/>
          <p:cNvSpPr/>
          <p:nvPr/>
        </p:nvSpPr>
        <p:spPr>
          <a:xfrm>
            <a:off x="857250" y="1952625"/>
            <a:ext cx="2857500" cy="238125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162050" y="22669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3100" b="1">
                <a:solidFill>
                  <a:srgbClr val="166534"/>
                </a:solidFill>
                <a:latin typeface="Aptos"/>
              </a:rPr>
              <a:t>MVP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162050" y="3009900"/>
            <a:ext cx="21907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600">
                <a:solidFill>
                  <a:srgbClr val="334155"/>
                </a:solidFill>
                <a:latin typeface="Aptos"/>
              </a:rPr>
              <a:t>Meta: publicacion basica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WhatsApp: links y mensajes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Objetivo: validar operacion</a:t>
            </a:r>
          </a:p>
        </p:txBody>
      </p:sp>
      <p:sp>
        <p:nvSpPr>
          <p:cNvPr id="20" name="Shape"/>
          <p:cNvSpPr/>
          <p:nvPr/>
        </p:nvSpPr>
        <p:spPr>
          <a:xfrm>
            <a:off x="4333875" y="1952625"/>
            <a:ext cx="2857500" cy="238125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4638675" y="22669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3100" b="1">
                <a:solidFill>
                  <a:srgbClr val="92400E"/>
                </a:solidFill>
                <a:latin typeface="Aptos"/>
              </a:rPr>
              <a:t>Avanzado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4638675" y="3009900"/>
            <a:ext cx="21907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600">
                <a:solidFill>
                  <a:srgbClr val="334155"/>
                </a:solidFill>
                <a:latin typeface="Aptos"/>
              </a:rPr>
              <a:t>Meta Ads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WhatsApp API oficial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Chatbot IA y transferencia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Automatizacion configurable: reglas guardadas como JSON, ejecucion progresiva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diseno permite crecer hacia workflow engine sin quemar logica en codigo.</a:t>
            </a:r>
          </a:p>
        </p:txBody>
      </p:sp>
      <p:sp>
        <p:nvSpPr>
          <p:cNvPr id="10" name="Shape"/>
          <p:cNvSpPr/>
          <p:nvPr/>
        </p:nvSpPr>
        <p:spPr>
          <a:xfrm>
            <a:off x="933450" y="2400300"/>
            <a:ext cx="2095500" cy="1619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"/>
          <p:cNvSpPr txBox="1"/>
          <p:nvPr/>
        </p:nvSpPr>
        <p:spPr>
          <a:xfrm>
            <a:off x="1162050" y="2762250"/>
            <a:ext cx="16192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Trigger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1200150" y="3371850"/>
            <a:ext cx="15811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250">
                <a:solidFill>
                  <a:srgbClr val="FFFFFF"/>
                </a:solidFill>
                <a:latin typeface="Aptos"/>
              </a:rPr>
              <a:t>cliente nuevo, venta, inactividad</a:t>
            </a:r>
          </a:p>
        </p:txBody>
      </p:sp>
      <p:sp>
        <p:nvSpPr>
          <p:cNvPr id="11" name="Shape"/>
          <p:cNvSpPr/>
          <p:nvPr/>
        </p:nvSpPr>
        <p:spPr>
          <a:xfrm>
            <a:off x="3657600" y="2400300"/>
            <a:ext cx="2095500" cy="16192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1" name="Text"/>
          <p:cNvSpPr txBox="1"/>
          <p:nvPr/>
        </p:nvSpPr>
        <p:spPr>
          <a:xfrm>
            <a:off x="3886200" y="2762250"/>
            <a:ext cx="16192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Conditions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3924300" y="3371850"/>
            <a:ext cx="15811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250">
                <a:solidFill>
                  <a:srgbClr val="FFFFFF"/>
                </a:solidFill>
                <a:latin typeface="Aptos"/>
              </a:rPr>
              <a:t>segmento, producto, monto, canal</a:t>
            </a:r>
          </a:p>
        </p:txBody>
      </p:sp>
      <p:sp>
        <p:nvSpPr>
          <p:cNvPr id="12" name="Shape"/>
          <p:cNvSpPr/>
          <p:nvPr/>
        </p:nvSpPr>
        <p:spPr>
          <a:xfrm>
            <a:off x="6381750" y="2400300"/>
            <a:ext cx="2095500" cy="161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6610350" y="2762250"/>
            <a:ext cx="16192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Actions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6648450" y="3371850"/>
            <a:ext cx="15811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250">
                <a:solidFill>
                  <a:srgbClr val="FFFFFF"/>
                </a:solidFill>
                <a:latin typeface="Aptos"/>
              </a:rPr>
              <a:t>generar campana, asignar, enviar mensaje</a:t>
            </a:r>
          </a:p>
        </p:txBody>
      </p:sp>
      <p:sp>
        <p:nvSpPr>
          <p:cNvPr id="13" name="Shape"/>
          <p:cNvSpPr/>
          <p:nvPr/>
        </p:nvSpPr>
        <p:spPr>
          <a:xfrm>
            <a:off x="9105900" y="2400300"/>
            <a:ext cx="2095500" cy="161925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23" name="Text"/>
          <p:cNvSpPr txBox="1"/>
          <p:nvPr/>
        </p:nvSpPr>
        <p:spPr>
          <a:xfrm>
            <a:off x="9334500" y="2762250"/>
            <a:ext cx="16192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Auditoria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372600" y="3371850"/>
            <a:ext cx="15811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250">
                <a:solidFill>
                  <a:srgbClr val="FFFFFF"/>
                </a:solidFill>
                <a:latin typeface="Aptos"/>
              </a:rPr>
              <a:t>registro de ejecucion y resultado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El catalogo maestro de modulos mantiene permisos y navegacion sincronizados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Cuando aparece un modulo nuevo, los roles se actualizan con permisos false.</a:t>
            </a:r>
          </a:p>
        </p:txBody>
      </p:sp>
      <p:sp>
        <p:nvSpPr>
          <p:cNvPr id="10" name="Shape"/>
          <p:cNvSpPr/>
          <p:nvPr/>
        </p:nvSpPr>
        <p:spPr>
          <a:xfrm>
            <a:off x="762000" y="1714500"/>
            <a:ext cx="47625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047750" y="198120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200" b="1">
                <a:solidFill>
                  <a:srgbClr val="2563EB"/>
                </a:solidFill>
                <a:latin typeface="Aptos"/>
              </a:rPr>
              <a:t>Scope PLATFORM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066800" y="2571750"/>
            <a:ext cx="3810000" cy="1504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600">
                <a:solidFill>
                  <a:srgbClr val="334155"/>
                </a:solidFill>
                <a:latin typeface="Aptos"/>
              </a:rPr>
              <a:t>Dashboard SaaS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Empresas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Planes, suscripciones y pagos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Usuarios plataforma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Modulos, roles y auditoria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Insights globales y consumo IA</a:t>
            </a:r>
          </a:p>
        </p:txBody>
      </p:sp>
      <p:sp>
        <p:nvSpPr>
          <p:cNvPr id="20" name="Shape"/>
          <p:cNvSpPr/>
          <p:nvPr/>
        </p:nvSpPr>
        <p:spPr>
          <a:xfrm>
            <a:off x="6667500" y="1714500"/>
            <a:ext cx="47625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6953250" y="198120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200" b="1">
                <a:solidFill>
                  <a:srgbClr val="16A34A"/>
                </a:solidFill>
                <a:latin typeface="Aptos"/>
              </a:rPr>
              <a:t>Scope COMPANY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972300" y="2571750"/>
            <a:ext cx="3810000" cy="1504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600">
                <a:solidFill>
                  <a:srgbClr val="334155"/>
                </a:solidFill>
                <a:latin typeface="Aptos"/>
              </a:rPr>
              <a:t>Dashboard empresa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Productos y CRM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Segmentacion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Contenido, plantillas y campanas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Automatizacion e integraciones</a:t>
            </a:r>
          </a:p>
          <a:p>
            <a:pPr marL="0" indent="0" spcBef="300"/>
            <a:r>
              <a:rPr sz="1600">
                <a:solidFill>
                  <a:srgbClr val="334155"/>
                </a:solidFill>
                <a:latin typeface="Aptos"/>
              </a:rPr>
              <a:t>Reportes y competidores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Ruta de implementacion: construir una base solida antes de features comerciales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Los documentos proponen avanzar por fases pequenas, compilables y verificables.</a:t>
            </a:r>
          </a:p>
        </p:txBody>
      </p:sp>
      <p:sp>
        <p:nvSpPr>
          <p:cNvPr id="10" name="Shape"/>
          <p:cNvSpPr/>
          <p:nvPr/>
        </p:nvSpPr>
        <p:spPr>
          <a:xfrm>
            <a:off x="685800" y="2476500"/>
            <a:ext cx="1809750" cy="161925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30" name="Text"/>
          <p:cNvSpPr txBox="1"/>
          <p:nvPr/>
        </p:nvSpPr>
        <p:spPr>
          <a:xfrm>
            <a:off x="876300" y="2781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ptos"/>
              </a:rPr>
              <a:t>Fase 0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876300" y="3295650"/>
            <a:ext cx="1428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350">
                <a:solidFill>
                  <a:srgbClr val="334155"/>
                </a:solidFill>
                <a:latin typeface="Aptos"/>
              </a:rPr>
              <a:t>Next.js + TypeScript</a:t>
            </a:r>
          </a:p>
          <a:p>
            <a:pPr marL="0" indent="0" spcBef="300"/>
            <a:r>
              <a:rPr sz="1350">
                <a:solidFill>
                  <a:srgbClr val="334155"/>
                </a:solidFill>
                <a:latin typeface="Aptos"/>
              </a:rPr>
              <a:t>Prisma + PostgreSQL</a:t>
            </a:r>
          </a:p>
        </p:txBody>
      </p:sp>
      <p:sp>
        <p:nvSpPr>
          <p:cNvPr id="11" name="Shape"/>
          <p:cNvSpPr/>
          <p:nvPr/>
        </p:nvSpPr>
        <p:spPr>
          <a:xfrm>
            <a:off x="2971800" y="2476500"/>
            <a:ext cx="1809750" cy="161925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3162300" y="2781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2400" b="1">
                <a:solidFill>
                  <a:srgbClr val="166534"/>
                </a:solidFill>
                <a:latin typeface="Aptos"/>
              </a:rPr>
              <a:t>Fase 1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3162300" y="3295650"/>
            <a:ext cx="1428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350">
                <a:solidFill>
                  <a:srgbClr val="334155"/>
                </a:solidFill>
                <a:latin typeface="Aptos"/>
              </a:rPr>
              <a:t>Modelos SaaS, RBAC</a:t>
            </a:r>
          </a:p>
          <a:p>
            <a:pPr marL="0" indent="0" spcBef="300"/>
            <a:r>
              <a:rPr sz="1350">
                <a:solidFill>
                  <a:srgbClr val="334155"/>
                </a:solidFill>
                <a:latin typeface="Aptos"/>
              </a:rPr>
              <a:t>y negocio empresa</a:t>
            </a:r>
          </a:p>
        </p:txBody>
      </p:sp>
      <p:sp>
        <p:nvSpPr>
          <p:cNvPr id="12" name="Shape"/>
          <p:cNvSpPr/>
          <p:nvPr/>
        </p:nvSpPr>
        <p:spPr>
          <a:xfrm>
            <a:off x="5257800" y="2476500"/>
            <a:ext cx="1809750" cy="161925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32" name="Text"/>
          <p:cNvSpPr txBox="1"/>
          <p:nvPr/>
        </p:nvSpPr>
        <p:spPr>
          <a:xfrm>
            <a:off x="5448300" y="2781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ptos"/>
              </a:rPr>
              <a:t>Fase 2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5448300" y="3295650"/>
            <a:ext cx="1428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350">
                <a:solidFill>
                  <a:srgbClr val="334155"/>
                </a:solidFill>
                <a:latin typeface="Aptos"/>
              </a:rPr>
              <a:t>Seed de modulos</a:t>
            </a:r>
          </a:p>
          <a:p>
            <a:pPr marL="0" indent="0" spcBef="300"/>
            <a:r>
              <a:rPr sz="1350">
                <a:solidFill>
                  <a:srgbClr val="334155"/>
                </a:solidFill>
                <a:latin typeface="Aptos"/>
              </a:rPr>
              <a:t>permisos y sidebar</a:t>
            </a:r>
          </a:p>
        </p:txBody>
      </p:sp>
      <p:sp>
        <p:nvSpPr>
          <p:cNvPr id="13" name="Shape"/>
          <p:cNvSpPr/>
          <p:nvPr/>
        </p:nvSpPr>
        <p:spPr>
          <a:xfrm>
            <a:off x="7543800" y="2476500"/>
            <a:ext cx="1809750" cy="161925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33" name="Text"/>
          <p:cNvSpPr txBox="1"/>
          <p:nvPr/>
        </p:nvSpPr>
        <p:spPr>
          <a:xfrm>
            <a:off x="7734300" y="2781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2400" b="1">
                <a:solidFill>
                  <a:srgbClr val="166534"/>
                </a:solidFill>
                <a:latin typeface="Aptos"/>
              </a:rPr>
              <a:t>Fase 3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7734300" y="3295650"/>
            <a:ext cx="1428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350">
                <a:solidFill>
                  <a:srgbClr val="334155"/>
                </a:solidFill>
                <a:latin typeface="Aptos"/>
              </a:rPr>
              <a:t>Auth y middleware</a:t>
            </a:r>
          </a:p>
          <a:p>
            <a:pPr marL="0" indent="0" spcBef="300"/>
            <a:r>
              <a:rPr sz="1350">
                <a:solidFill>
                  <a:srgbClr val="334155"/>
                </a:solidFill>
                <a:latin typeface="Aptos"/>
              </a:rPr>
              <a:t>multitenant</a:t>
            </a:r>
          </a:p>
        </p:txBody>
      </p:sp>
      <p:sp>
        <p:nvSpPr>
          <p:cNvPr id="14" name="Shape"/>
          <p:cNvSpPr/>
          <p:nvPr/>
        </p:nvSpPr>
        <p:spPr>
          <a:xfrm>
            <a:off x="9829800" y="2476500"/>
            <a:ext cx="1809750" cy="161925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34" name="Text"/>
          <p:cNvSpPr txBox="1"/>
          <p:nvPr/>
        </p:nvSpPr>
        <p:spPr>
          <a:xfrm>
            <a:off x="10020300" y="2781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ptos"/>
              </a:rPr>
              <a:t>Fase 4-5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10020300" y="3295650"/>
            <a:ext cx="1428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350">
                <a:solidFill>
                  <a:srgbClr val="334155"/>
                </a:solidFill>
                <a:latin typeface="Aptos"/>
              </a:rPr>
              <a:t>Superusuario</a:t>
            </a:r>
          </a:p>
          <a:p>
            <a:pPr marL="0" indent="0" spcBef="300"/>
            <a:r>
              <a:rPr sz="1350">
                <a:solidFill>
                  <a:srgbClr val="334155"/>
                </a:solidFill>
                <a:latin typeface="Aptos"/>
              </a:rPr>
              <a:t>vista empresa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609600" y="419100"/>
            <a:ext cx="72390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400" b="1">
                <a:solidFill>
                  <a:srgbClr val="0F172A"/>
                </a:solidFill>
                <a:latin typeface="Aptos"/>
              </a:rPr>
              <a:t>Roadmap de producto: validar, medir y expandir integraciones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28650" y="10668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La fase avanzada llega despues de probar valor con operacion real.</a:t>
            </a:r>
          </a:p>
        </p:txBody>
      </p:sp>
      <p:pic>
        <p:nvPicPr>
          <p:cNvPr id="4" name="Analytics mockup"/>
          <p:cNvPicPr>
            <a:picLocks noChangeAspect="1"/>
          </p:cNvPicPr>
          <p:nvPr/>
        </p:nvPicPr>
        <p:blipFill>
          <a:blip r:embed="rImg4"/>
          <a:stretch>
            <a:fillRect/>
          </a:stretch>
        </p:blipFill>
        <p:spPr>
          <a:xfrm>
            <a:off x="7410450" y="1238250"/>
            <a:ext cx="3810000" cy="2333625"/>
          </a:xfrm>
          <a:prstGeom prst="rect">
            <a:avLst/>
          </a:prstGeom>
        </p:spPr>
      </p:pic>
      <p:sp>
        <p:nvSpPr>
          <p:cNvPr id="10" name="Shape"/>
          <p:cNvSpPr/>
          <p:nvPr/>
        </p:nvSpPr>
        <p:spPr>
          <a:xfrm>
            <a:off x="876300" y="1885950"/>
            <a:ext cx="5334000" cy="7810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"/>
          <p:cNvSpPr txBox="1"/>
          <p:nvPr/>
        </p:nvSpPr>
        <p:spPr>
          <a:xfrm>
            <a:off x="1162050" y="2057400"/>
            <a:ext cx="11906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000" b="1">
                <a:solidFill>
                  <a:srgbClr val="FFFFFF"/>
                </a:solidFill>
                <a:latin typeface="Aptos"/>
              </a:rPr>
              <a:t>Ahora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2781300" y="2019300"/>
            <a:ext cx="2952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500">
                <a:solidFill>
                  <a:srgbClr val="FFFFFF"/>
                </a:solidFill>
                <a:latin typeface="Aptos"/>
              </a:rPr>
              <a:t>MVP SaaS multitenant</a:t>
            </a:r>
          </a:p>
          <a:p>
            <a:pPr marL="0" indent="0" spcBef="300"/>
            <a:r>
              <a:rPr sz="1500">
                <a:solidFill>
                  <a:srgbClr val="FFFFFF"/>
                </a:solidFill>
                <a:latin typeface="Aptos"/>
              </a:rPr>
              <a:t>CRM, productos y campanas</a:t>
            </a:r>
          </a:p>
        </p:txBody>
      </p:sp>
      <p:sp>
        <p:nvSpPr>
          <p:cNvPr id="11" name="Shape"/>
          <p:cNvSpPr/>
          <p:nvPr/>
        </p:nvSpPr>
        <p:spPr>
          <a:xfrm>
            <a:off x="876300" y="3028950"/>
            <a:ext cx="5334000" cy="7810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1" name="Text"/>
          <p:cNvSpPr txBox="1"/>
          <p:nvPr/>
        </p:nvSpPr>
        <p:spPr>
          <a:xfrm>
            <a:off x="1162050" y="3200400"/>
            <a:ext cx="11906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000" b="1">
                <a:solidFill>
                  <a:srgbClr val="FFFFFF"/>
                </a:solidFill>
                <a:latin typeface="Aptos"/>
              </a:rPr>
              <a:t>Siguiente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2781300" y="3162300"/>
            <a:ext cx="2952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500">
                <a:solidFill>
                  <a:srgbClr val="FFFFFF"/>
                </a:solidFill>
                <a:latin typeface="Aptos"/>
              </a:rPr>
              <a:t>Contenido IA con aprobacion</a:t>
            </a:r>
          </a:p>
          <a:p>
            <a:pPr marL="0" indent="0" spcBef="300"/>
            <a:r>
              <a:rPr sz="1500">
                <a:solidFill>
                  <a:srgbClr val="FFFFFF"/>
                </a:solidFill>
                <a:latin typeface="Aptos"/>
              </a:rPr>
              <a:t>WhatsApp ventas y reportes</a:t>
            </a:r>
          </a:p>
        </p:txBody>
      </p:sp>
      <p:sp>
        <p:nvSpPr>
          <p:cNvPr id="12" name="Shape"/>
          <p:cNvSpPr/>
          <p:nvPr/>
        </p:nvSpPr>
        <p:spPr>
          <a:xfrm>
            <a:off x="876300" y="4171950"/>
            <a:ext cx="5334000" cy="7810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1162050" y="4343400"/>
            <a:ext cx="11906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000" b="1">
                <a:solidFill>
                  <a:srgbClr val="FFFFFF"/>
                </a:solidFill>
                <a:latin typeface="Aptos"/>
              </a:rPr>
              <a:t>Despues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2781300" y="4305300"/>
            <a:ext cx="2952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500">
                <a:solidFill>
                  <a:srgbClr val="FFFFFF"/>
                </a:solidFill>
                <a:latin typeface="Aptos"/>
              </a:rPr>
              <a:t>Meta Ads, chatbot IA</a:t>
            </a:r>
          </a:p>
          <a:p>
            <a:pPr marL="0" indent="0" spcBef="300"/>
            <a:r>
              <a:rPr sz="1500">
                <a:solidFill>
                  <a:srgbClr val="FFFFFF"/>
                </a:solidFill>
                <a:latin typeface="Aptos"/>
              </a:rPr>
              <a:t>analisis de competencia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609600" y="64770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Fuente: docs/SPEC.md, docs/DECISIONS.md, docs/MODULES_SEED.md y docs/TASKS.md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pic>
        <p:nvPicPr>
          <p:cNvPr id="4" name="Dashboard mockup"/>
          <p:cNvPicPr>
            <a:picLocks noChangeAspect="1"/>
          </p:cNvPicPr>
          <p:nvPr/>
        </p:nvPicPr>
        <p:blipFill>
          <a:blip r:embed="rImg1"/>
          <a:stretch>
            <a:fillRect/>
          </a:stretch>
        </p:blipFill>
        <p:spPr>
          <a:xfrm>
            <a:off x="7191375" y="876300"/>
            <a:ext cx="4000500" cy="2381250"/>
          </a:xfrm>
          <a:prstGeom prst="rect">
            <a:avLst/>
          </a:prstGeom>
        </p:spPr>
      </p:pic>
      <p:sp>
        <p:nvSpPr>
          <p:cNvPr id="5" name="Shape"/>
          <p:cNvSpPr/>
          <p:nvPr/>
        </p:nvSpPr>
        <p:spPr>
          <a:xfrm>
            <a:off x="685800" y="666750"/>
            <a:ext cx="1619250" cy="28575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800100" y="7239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MENSAJE CENTRAL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704850" y="1428750"/>
            <a:ext cx="6191250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3800" b="1">
                <a:solidFill>
                  <a:srgbClr val="FFFFFF"/>
                </a:solidFill>
                <a:latin typeface="Aptos"/>
              </a:rPr>
              <a:t>SOCIA / SHOPIA convierte redes sociales en una operacion comercial medible.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42950" y="3143250"/>
            <a:ext cx="5524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2000">
                <a:solidFill>
                  <a:srgbClr val="CBD5E1"/>
                </a:solidFill>
                <a:latin typeface="Aptos"/>
              </a:rPr>
              <a:t>La propuesta no es solo publicar: es conectar productos, clientes, IA, permisos, campanas, WhatsApp y reportes en una plataforma SaaS multitenant.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42950" y="55721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90000"/>
          </a:bodyPr>
          <a:lstStyle/>
          <a:p>
            <a:pPr/>
            <a:r>
              <a:rPr sz="1600">
                <a:solidFill>
                  <a:srgbClr val="93C5FD"/>
                </a:solidFill>
                <a:latin typeface="Aptos"/>
              </a:rPr>
              <a:t>Siguiente paso sugerido: validar Fase 0 y Fase 1 contra el repositorio actual.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