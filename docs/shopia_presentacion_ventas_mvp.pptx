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7858125" y="0"/>
            <a:ext cx="433387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8650" y="628650"/>
            <a:ext cx="1409700" cy="28575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42950" y="685800"/>
            <a:ext cx="1181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SERVICIO MVP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47700" y="1409700"/>
            <a:ext cx="6191250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4200" b="1">
                <a:solidFill>
                  <a:srgbClr val="101827"/>
                </a:solidFill>
                <a:latin typeface="Aptos"/>
              </a:rPr>
              <a:t>Convierte redes sociales en ventas organizadas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85800" y="2914650"/>
            <a:ext cx="58102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2100">
                <a:solidFill>
                  <a:srgbClr val="334155"/>
                </a:solidFill>
                <a:latin typeface="Aptos"/>
              </a:rPr>
              <a:t>SOCIA / SHOPIA ayuda a captar clientes, segmentarlos, crear campanas con IA y responder por WhatsApp desde un flujo claro.</a:t>
            </a:r>
          </a:p>
        </p:txBody>
      </p:sp>
      <p:sp>
        <p:nvSpPr>
          <p:cNvPr id="20" name="Shape 20"/>
          <p:cNvSpPr/>
          <p:nvPr/>
        </p:nvSpPr>
        <p:spPr>
          <a:xfrm>
            <a:off x="7191375" y="1181100"/>
            <a:ext cx="4000500" cy="31432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Shape 21"/>
          <p:cNvSpPr/>
          <p:nvPr/>
        </p:nvSpPr>
        <p:spPr>
          <a:xfrm>
            <a:off x="7191375" y="1181100"/>
            <a:ext cx="4000500" cy="419100"/>
          </a:xfrm>
          <a:prstGeom prst="rect">
            <a:avLst/>
          </a:prstGeom>
          <a:solidFill>
            <a:srgbClr val="111827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7400925" y="1295400"/>
            <a:ext cx="35814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00" b="1">
                <a:solidFill>
                  <a:srgbClr val="FFFFFF"/>
                </a:solidFill>
                <a:latin typeface="Aptos"/>
              </a:rPr>
              <a:t>Panel comercial</a:t>
            </a:r>
          </a:p>
        </p:txBody>
      </p:sp>
      <p:sp>
        <p:nvSpPr>
          <p:cNvPr id="23" name="Shape 23"/>
          <p:cNvSpPr/>
          <p:nvPr/>
        </p:nvSpPr>
        <p:spPr>
          <a:xfrm>
            <a:off x="7458075" y="1905000"/>
            <a:ext cx="1200150" cy="704850"/>
          </a:xfrm>
          <a:prstGeom prst="rect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7648575" y="2076450"/>
            <a:ext cx="838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100" b="1">
                <a:solidFill>
                  <a:srgbClr val="334155"/>
                </a:solidFill>
                <a:latin typeface="Aptos"/>
              </a:rPr>
              <a:t>Leads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7648575" y="2286000"/>
            <a:ext cx="8382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+38%</a:t>
            </a:r>
          </a:p>
        </p:txBody>
      </p:sp>
      <p:sp>
        <p:nvSpPr>
          <p:cNvPr id="26" name="Shape 26"/>
          <p:cNvSpPr/>
          <p:nvPr/>
        </p:nvSpPr>
        <p:spPr>
          <a:xfrm>
            <a:off x="8886825" y="1905000"/>
            <a:ext cx="1200150" cy="704850"/>
          </a:xfrm>
          <a:prstGeom prst="rect">
            <a:avLst/>
          </a:prstGeom>
          <a:solidFill>
            <a:srgbClr val="DCFCE7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9058275" y="2076450"/>
            <a:ext cx="8763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100" b="1">
                <a:solidFill>
                  <a:srgbClr val="334155"/>
                </a:solidFill>
                <a:latin typeface="Aptos"/>
              </a:rPr>
              <a:t>Ventas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9058275" y="2286000"/>
            <a:ext cx="8763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Aptos"/>
              </a:rPr>
              <a:t>+21%</a:t>
            </a:r>
          </a:p>
        </p:txBody>
      </p:sp>
      <p:sp>
        <p:nvSpPr>
          <p:cNvPr id="29" name="Shape 29"/>
          <p:cNvSpPr/>
          <p:nvPr/>
        </p:nvSpPr>
        <p:spPr>
          <a:xfrm>
            <a:off x="10334625" y="1905000"/>
            <a:ext cx="1200150" cy="704850"/>
          </a:xfrm>
          <a:prstGeom prst="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10487025" y="2076450"/>
            <a:ext cx="8953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100" b="1">
                <a:solidFill>
                  <a:srgbClr val="334155"/>
                </a:solidFill>
                <a:latin typeface="Aptos"/>
              </a:rPr>
              <a:t>Campanas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10487025" y="2286000"/>
            <a:ext cx="8953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800" b="1">
                <a:solidFill>
                  <a:srgbClr val="D97706"/>
                </a:solidFill>
                <a:latin typeface="Aptos"/>
              </a:rPr>
              <a:t>12</a:t>
            </a:r>
          </a:p>
        </p:txBody>
      </p:sp>
      <p:sp>
        <p:nvSpPr>
          <p:cNvPr id="32" name="Shape 32"/>
          <p:cNvSpPr/>
          <p:nvPr/>
        </p:nvSpPr>
        <p:spPr>
          <a:xfrm>
            <a:off x="7496175" y="3067050"/>
            <a:ext cx="3390900" cy="11239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3" name="Shape 33"/>
          <p:cNvSpPr/>
          <p:nvPr/>
        </p:nvSpPr>
        <p:spPr>
          <a:xfrm>
            <a:off x="7877175" y="3733800"/>
            <a:ext cx="266700" cy="3238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4" name="Shape 34"/>
          <p:cNvSpPr/>
          <p:nvPr/>
        </p:nvSpPr>
        <p:spPr>
          <a:xfrm>
            <a:off x="8372475" y="3486150"/>
            <a:ext cx="2667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5" name="Shape 35"/>
          <p:cNvSpPr/>
          <p:nvPr/>
        </p:nvSpPr>
        <p:spPr>
          <a:xfrm>
            <a:off x="8867775" y="3314700"/>
            <a:ext cx="266700" cy="7429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6" name="Shape 36"/>
          <p:cNvSpPr/>
          <p:nvPr/>
        </p:nvSpPr>
        <p:spPr>
          <a:xfrm>
            <a:off x="9363075" y="3162300"/>
            <a:ext cx="266700" cy="8953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7" name="Shape 37"/>
          <p:cNvSpPr/>
          <p:nvPr/>
        </p:nvSpPr>
        <p:spPr>
          <a:xfrm>
            <a:off x="9858375" y="2971800"/>
            <a:ext cx="266700" cy="10858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50" name="Text 50"/>
          <p:cNvSpPr txBox="1"/>
          <p:nvPr/>
        </p:nvSpPr>
        <p:spPr>
          <a:xfrm>
            <a:off x="685800" y="4838700"/>
            <a:ext cx="581025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2563EB"/>
                </a:solidFill>
                <a:latin typeface="Aptos"/>
              </a:rPr>
              <a:t>Para negocios que venden por Instagram, Facebook y WhatsApp, pero necesitan dejar de operar todo manualmente.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90550" y="4191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3200" b="1">
                <a:solidFill>
                  <a:srgbClr val="101827"/>
                </a:solidFill>
                <a:latin typeface="Aptos"/>
              </a:rPr>
              <a:t>El cliente no necesita otra herramienta: necesita vender mejor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9600" y="10668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La app debe ordenar el trabajo diario de marketing y ventas.</a:t>
            </a:r>
          </a:p>
        </p:txBody>
      </p:sp>
      <p:sp>
        <p:nvSpPr>
          <p:cNvPr id="10" name="Shape 10"/>
          <p:cNvSpPr/>
          <p:nvPr/>
        </p:nvSpPr>
        <p:spPr>
          <a:xfrm>
            <a:off x="666750" y="1790700"/>
            <a:ext cx="2381250" cy="2190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666750" y="1790700"/>
            <a:ext cx="76200" cy="219075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914400" y="1981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DC2626"/>
                </a:solidFill>
                <a:latin typeface="Aptos"/>
              </a:rPr>
              <a:t>Hoy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14400" y="2381250"/>
            <a:ext cx="190500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Publica manualmente, responde tarde, pierde datos de clientes y no sabe que campana vende.</a:t>
            </a:r>
          </a:p>
        </p:txBody>
      </p:sp>
      <p:sp>
        <p:nvSpPr>
          <p:cNvPr id="20" name="Shape 20"/>
          <p:cNvSpPr/>
          <p:nvPr/>
        </p:nvSpPr>
        <p:spPr>
          <a:xfrm>
            <a:off x="3476625" y="1790700"/>
            <a:ext cx="2381250" cy="2190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Shape 21"/>
          <p:cNvSpPr/>
          <p:nvPr/>
        </p:nvSpPr>
        <p:spPr>
          <a:xfrm>
            <a:off x="3476625" y="1790700"/>
            <a:ext cx="76200" cy="21907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3724275" y="1981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2563EB"/>
                </a:solidFill>
                <a:latin typeface="Aptos"/>
              </a:rPr>
              <a:t>Con la app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3724275" y="2381250"/>
            <a:ext cx="190500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Carga productos, segmenta clientes, genera contenido, publica campanas y hace seguimiento.</a:t>
            </a:r>
          </a:p>
        </p:txBody>
      </p:sp>
      <p:sp>
        <p:nvSpPr>
          <p:cNvPr id="30" name="Shape 30"/>
          <p:cNvSpPr/>
          <p:nvPr/>
        </p:nvSpPr>
        <p:spPr>
          <a:xfrm>
            <a:off x="6286500" y="1790700"/>
            <a:ext cx="2381250" cy="2190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Shape 31"/>
          <p:cNvSpPr/>
          <p:nvPr/>
        </p:nvSpPr>
        <p:spPr>
          <a:xfrm>
            <a:off x="6286500" y="1790700"/>
            <a:ext cx="76200" cy="21907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6534150" y="1981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16A34A"/>
                </a:solidFill>
                <a:latin typeface="Aptos"/>
              </a:rPr>
              <a:t>Resultado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6534150" y="2381250"/>
            <a:ext cx="190500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Mas oportunidades capturadas, conversaciones mejor atendidas y ventas con trazabilidad.</a:t>
            </a:r>
          </a:p>
        </p:txBody>
      </p:sp>
      <p:sp>
        <p:nvSpPr>
          <p:cNvPr id="50" name="Shape 50"/>
          <p:cNvSpPr/>
          <p:nvPr/>
        </p:nvSpPr>
        <p:spPr>
          <a:xfrm>
            <a:off x="9191625" y="1428750"/>
            <a:ext cx="1809750" cy="333375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</p:sp>
      <p:sp>
        <p:nvSpPr>
          <p:cNvPr id="51" name="Shape 51"/>
          <p:cNvSpPr/>
          <p:nvPr/>
        </p:nvSpPr>
        <p:spPr>
          <a:xfrm>
            <a:off x="9344025" y="1714500"/>
            <a:ext cx="1504950" cy="2762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2" name="Shape 52"/>
          <p:cNvSpPr/>
          <p:nvPr/>
        </p:nvSpPr>
        <p:spPr>
          <a:xfrm>
            <a:off x="9515475" y="2095500"/>
            <a:ext cx="1162050" cy="41910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</p:sp>
      <p:sp>
        <p:nvSpPr>
          <p:cNvPr id="53" name="Text 53"/>
          <p:cNvSpPr txBox="1"/>
          <p:nvPr/>
        </p:nvSpPr>
        <p:spPr>
          <a:xfrm>
            <a:off x="9648825" y="2209800"/>
            <a:ext cx="8953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100">
                <a:solidFill>
                  <a:srgbClr val="334155"/>
                </a:solidFill>
                <a:latin typeface="Aptos"/>
              </a:rPr>
              <a:t>Hola, me interesa</a:t>
            </a:r>
          </a:p>
        </p:txBody>
      </p:sp>
      <p:sp>
        <p:nvSpPr>
          <p:cNvPr id="54" name="Shape 54"/>
          <p:cNvSpPr/>
          <p:nvPr/>
        </p:nvSpPr>
        <p:spPr>
          <a:xfrm>
            <a:off x="9515475" y="2667000"/>
            <a:ext cx="1162050" cy="47625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55" name="Text 55"/>
          <p:cNvSpPr txBox="1"/>
          <p:nvPr/>
        </p:nvSpPr>
        <p:spPr>
          <a:xfrm>
            <a:off x="9648825" y="2762250"/>
            <a:ext cx="8953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050">
                <a:solidFill>
                  <a:srgbClr val="334155"/>
                </a:solidFill>
                <a:latin typeface="Aptos"/>
              </a:rPr>
              <a:t>Te envio catalogo y promo</a:t>
            </a:r>
          </a:p>
        </p:txBody>
      </p:sp>
      <p:sp>
        <p:nvSpPr>
          <p:cNvPr id="56" name="Shape 56"/>
          <p:cNvSpPr/>
          <p:nvPr/>
        </p:nvSpPr>
        <p:spPr>
          <a:xfrm>
            <a:off x="9515475" y="3314700"/>
            <a:ext cx="1162050" cy="43815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57" name="Text 57"/>
          <p:cNvSpPr txBox="1"/>
          <p:nvPr/>
        </p:nvSpPr>
        <p:spPr>
          <a:xfrm>
            <a:off x="9648825" y="3429000"/>
            <a:ext cx="8953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100">
                <a:solidFill>
                  <a:srgbClr val="334155"/>
                </a:solidFill>
                <a:latin typeface="Aptos"/>
              </a:rPr>
              <a:t>Asignado a vendedor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590550" y="647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Presentacion comercial MVP - SOCIA / SHOPIA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90550" y="4191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3200" b="1">
                <a:solidFill>
                  <a:srgbClr val="101827"/>
                </a:solidFill>
                <a:latin typeface="Aptos"/>
              </a:rPr>
              <a:t>Que podra hacer el negocio en el MVP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9600" y="10668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El MVP se enfoca en acciones comerciales concretas, no en administracion tecnica.</a:t>
            </a:r>
          </a:p>
        </p:txBody>
      </p:sp>
      <p:sp>
        <p:nvSpPr>
          <p:cNvPr id="10" name="Shape 10"/>
          <p:cNvSpPr/>
          <p:nvPr/>
        </p:nvSpPr>
        <p:spPr>
          <a:xfrm>
            <a:off x="742950" y="1733550"/>
            <a:ext cx="2381250" cy="156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742950" y="1733550"/>
            <a:ext cx="76200" cy="15621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990600" y="192405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2563EB"/>
                </a:solidFill>
                <a:latin typeface="Aptos"/>
              </a:rPr>
              <a:t>Gestionar productos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90600" y="2324100"/>
            <a:ext cx="1905000" cy="819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Registrar productos, precios, descripciones, fotos, promociones y palabras clave.</a:t>
            </a:r>
          </a:p>
        </p:txBody>
      </p:sp>
      <p:sp>
        <p:nvSpPr>
          <p:cNvPr id="20" name="Shape 20"/>
          <p:cNvSpPr/>
          <p:nvPr/>
        </p:nvSpPr>
        <p:spPr>
          <a:xfrm>
            <a:off x="3543300" y="1733550"/>
            <a:ext cx="2381250" cy="156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Shape 21"/>
          <p:cNvSpPr/>
          <p:nvPr/>
        </p:nvSpPr>
        <p:spPr>
          <a:xfrm>
            <a:off x="3543300" y="1733550"/>
            <a:ext cx="76200" cy="15621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3790950" y="192405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16A34A"/>
                </a:solidFill>
                <a:latin typeface="Aptos"/>
              </a:rPr>
              <a:t>Organizar clientes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3790950" y="2324100"/>
            <a:ext cx="1905000" cy="819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Guardar leads, compradores, historial, origen y estado comercial.</a:t>
            </a:r>
          </a:p>
        </p:txBody>
      </p:sp>
      <p:sp>
        <p:nvSpPr>
          <p:cNvPr id="30" name="Shape 30"/>
          <p:cNvSpPr/>
          <p:nvPr/>
        </p:nvSpPr>
        <p:spPr>
          <a:xfrm>
            <a:off x="6343650" y="1733550"/>
            <a:ext cx="2381250" cy="156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Shape 31"/>
          <p:cNvSpPr/>
          <p:nvPr/>
        </p:nvSpPr>
        <p:spPr>
          <a:xfrm>
            <a:off x="6343650" y="1733550"/>
            <a:ext cx="76200" cy="15621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6591300" y="192405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D97706"/>
                </a:solidFill>
                <a:latin typeface="Aptos"/>
              </a:rPr>
              <a:t>Crear campanas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6591300" y="2324100"/>
            <a:ext cx="1905000" cy="819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Armar campanas por producto, cliente o segmento con apoyo de IA.</a:t>
            </a:r>
          </a:p>
        </p:txBody>
      </p:sp>
      <p:sp>
        <p:nvSpPr>
          <p:cNvPr id="40" name="Shape 40"/>
          <p:cNvSpPr/>
          <p:nvPr/>
        </p:nvSpPr>
        <p:spPr>
          <a:xfrm>
            <a:off x="9144000" y="1733550"/>
            <a:ext cx="2381250" cy="156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1" name="Shape 41"/>
          <p:cNvSpPr/>
          <p:nvPr/>
        </p:nvSpPr>
        <p:spPr>
          <a:xfrm>
            <a:off x="9144000" y="1733550"/>
            <a:ext cx="76200" cy="1562100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9391650" y="192405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0891B2"/>
                </a:solidFill>
                <a:latin typeface="Aptos"/>
              </a:rPr>
              <a:t>Activar canales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9391650" y="2324100"/>
            <a:ext cx="1905000" cy="819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Publicar en redes y llevar conversaciones hacia WhatsApp.</a:t>
            </a:r>
          </a:p>
        </p:txBody>
      </p:sp>
      <p:sp>
        <p:nvSpPr>
          <p:cNvPr id="50" name="Shape 50"/>
          <p:cNvSpPr/>
          <p:nvPr/>
        </p:nvSpPr>
        <p:spPr>
          <a:xfrm>
            <a:off x="2152650" y="3886200"/>
            <a:ext cx="2381250" cy="142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51" name="Shape 51"/>
          <p:cNvSpPr/>
          <p:nvPr/>
        </p:nvSpPr>
        <p:spPr>
          <a:xfrm>
            <a:off x="2152650" y="3886200"/>
            <a:ext cx="76200" cy="14287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2" name="Text 52"/>
          <p:cNvSpPr txBox="1"/>
          <p:nvPr/>
        </p:nvSpPr>
        <p:spPr>
          <a:xfrm>
            <a:off x="2400300" y="40767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2563EB"/>
                </a:solidFill>
                <a:latin typeface="Aptos"/>
              </a:rPr>
              <a:t>Medir resultados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2400300" y="4476750"/>
            <a:ext cx="1905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Ver que campanas generan leads, conversaciones y ventas.</a:t>
            </a:r>
          </a:p>
        </p:txBody>
      </p:sp>
      <p:sp>
        <p:nvSpPr>
          <p:cNvPr id="60" name="Shape 60"/>
          <p:cNvSpPr/>
          <p:nvPr/>
        </p:nvSpPr>
        <p:spPr>
          <a:xfrm>
            <a:off x="4953000" y="3886200"/>
            <a:ext cx="2381250" cy="142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61" name="Shape 61"/>
          <p:cNvSpPr/>
          <p:nvPr/>
        </p:nvSpPr>
        <p:spPr>
          <a:xfrm>
            <a:off x="4953000" y="3886200"/>
            <a:ext cx="76200" cy="14287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62" name="Text 62"/>
          <p:cNvSpPr txBox="1"/>
          <p:nvPr/>
        </p:nvSpPr>
        <p:spPr>
          <a:xfrm>
            <a:off x="5200650" y="40767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16A34A"/>
                </a:solidFill>
                <a:latin typeface="Aptos"/>
              </a:rPr>
              <a:t>Automatizar tareas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5200650" y="4476750"/>
            <a:ext cx="1905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Sugerencias, recordatorios y reglas simples para no perder oportunidades.</a:t>
            </a:r>
          </a:p>
        </p:txBody>
      </p:sp>
      <p:sp>
        <p:nvSpPr>
          <p:cNvPr id="70" name="Shape 70"/>
          <p:cNvSpPr/>
          <p:nvPr/>
        </p:nvSpPr>
        <p:spPr>
          <a:xfrm>
            <a:off x="7753350" y="3886200"/>
            <a:ext cx="2381250" cy="142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1" name="Shape 71"/>
          <p:cNvSpPr/>
          <p:nvPr/>
        </p:nvSpPr>
        <p:spPr>
          <a:xfrm>
            <a:off x="7753350" y="3886200"/>
            <a:ext cx="76200" cy="14287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72" name="Text 72"/>
          <p:cNvSpPr txBox="1"/>
          <p:nvPr/>
        </p:nvSpPr>
        <p:spPr>
          <a:xfrm>
            <a:off x="8001000" y="40767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D97706"/>
                </a:solidFill>
                <a:latin typeface="Aptos"/>
              </a:rPr>
              <a:t>Trabajar en equipo</a:t>
            </a:r>
          </a:p>
        </p:txBody>
      </p:sp>
      <p:sp>
        <p:nvSpPr>
          <p:cNvPr id="73" name="Text 73"/>
          <p:cNvSpPr txBox="1"/>
          <p:nvPr/>
        </p:nvSpPr>
        <p:spPr>
          <a:xfrm>
            <a:off x="8001000" y="4476750"/>
            <a:ext cx="1905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Asignar clientes y controlar quien puede aprobar o publicar.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590550" y="647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Presentacion comercial MVP - SOCIA / SHOPIA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90550" y="4191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3200" b="1">
                <a:solidFill>
                  <a:srgbClr val="101827"/>
                </a:solidFill>
                <a:latin typeface="Aptos"/>
              </a:rPr>
              <a:t>Flujo simple: producto, audiencia, campana y venta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9600" y="10668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El usuario entiende el proceso sin hablar de tecnologia.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838200" y="2057400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1. Elige producto</a:t>
            </a:r>
          </a:p>
        </p:txBody>
      </p:sp>
      <p:sp>
        <p:nvSpPr>
          <p:cNvPr id="11" name="Shape 11"/>
          <p:cNvSpPr/>
          <p:nvPr/>
        </p:nvSpPr>
        <p:spPr>
          <a:xfrm>
            <a:off x="914400" y="2647950"/>
            <a:ext cx="1524000" cy="85725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1104900" y="2895600"/>
            <a:ext cx="1143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300" b="1">
                <a:solidFill>
                  <a:srgbClr val="334155"/>
                </a:solidFill>
                <a:latin typeface="Aptos"/>
              </a:rPr>
              <a:t>Producto o promo</a:t>
            </a:r>
          </a:p>
        </p:txBody>
      </p:sp>
      <p:cxnSp>
        <p:nvCxnSpPr>
          <p:cNvPr id="13" name="Connector 13"/>
          <p:cNvCxnSpPr/>
          <p:nvPr/>
        </p:nvCxnSpPr>
        <p:spPr>
          <a:xfrm>
            <a:off x="2476500" y="3086100"/>
            <a:ext cx="762000" cy="9525"/>
          </a:xfrm>
          <a:prstGeom prst="line">
            <a:avLst/>
          </a:prstGeom>
          <a:ln w="27940">
            <a:solidFill>
              <a:srgbClr val="2563EB"/>
            </a:solidFill>
          </a:ln>
        </p:spPr>
      </p:cxnSp>
      <p:sp>
        <p:nvSpPr>
          <p:cNvPr id="20" name="Text 20"/>
          <p:cNvSpPr txBox="1"/>
          <p:nvPr/>
        </p:nvSpPr>
        <p:spPr>
          <a:xfrm>
            <a:off x="3143250" y="2057400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Aptos"/>
              </a:rPr>
              <a:t>2. Selecciona clientes</a:t>
            </a:r>
          </a:p>
        </p:txBody>
      </p:sp>
      <p:sp>
        <p:nvSpPr>
          <p:cNvPr id="21" name="Shape 21"/>
          <p:cNvSpPr/>
          <p:nvPr/>
        </p:nvSpPr>
        <p:spPr>
          <a:xfrm>
            <a:off x="3238500" y="2647950"/>
            <a:ext cx="1524000" cy="85725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3429000" y="2895600"/>
            <a:ext cx="1143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300" b="1">
                <a:solidFill>
                  <a:srgbClr val="334155"/>
                </a:solidFill>
                <a:latin typeface="Aptos"/>
              </a:rPr>
              <a:t>Segmento ideal</a:t>
            </a:r>
          </a:p>
        </p:txBody>
      </p:sp>
      <p:cxnSp>
        <p:nvCxnSpPr>
          <p:cNvPr id="23" name="Connector 23"/>
          <p:cNvCxnSpPr/>
          <p:nvPr/>
        </p:nvCxnSpPr>
        <p:spPr>
          <a:xfrm>
            <a:off x="4800600" y="3086100"/>
            <a:ext cx="762000" cy="9525"/>
          </a:xfrm>
          <a:prstGeom prst="line">
            <a:avLst/>
          </a:prstGeom>
          <a:ln w="27940">
            <a:solidFill>
              <a:srgbClr val="2563EB"/>
            </a:solidFill>
          </a:ln>
        </p:spPr>
      </p:cxnSp>
      <p:sp>
        <p:nvSpPr>
          <p:cNvPr id="30" name="Text 30"/>
          <p:cNvSpPr txBox="1"/>
          <p:nvPr/>
        </p:nvSpPr>
        <p:spPr>
          <a:xfrm>
            <a:off x="5467350" y="2057400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800" b="1">
                <a:solidFill>
                  <a:srgbClr val="D97706"/>
                </a:solidFill>
                <a:latin typeface="Aptos"/>
              </a:rPr>
              <a:t>3. Genera contenido</a:t>
            </a:r>
          </a:p>
        </p:txBody>
      </p:sp>
      <p:sp>
        <p:nvSpPr>
          <p:cNvPr id="31" name="Shape 31"/>
          <p:cNvSpPr/>
          <p:nvPr/>
        </p:nvSpPr>
        <p:spPr>
          <a:xfrm>
            <a:off x="5562600" y="2647950"/>
            <a:ext cx="1524000" cy="85725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5753100" y="2895600"/>
            <a:ext cx="1143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300" b="1">
                <a:solidFill>
                  <a:srgbClr val="334155"/>
                </a:solidFill>
                <a:latin typeface="Aptos"/>
              </a:rPr>
              <a:t>IA + marca</a:t>
            </a:r>
          </a:p>
        </p:txBody>
      </p:sp>
      <p:cxnSp>
        <p:nvCxnSpPr>
          <p:cNvPr id="33" name="Connector 33"/>
          <p:cNvCxnSpPr/>
          <p:nvPr/>
        </p:nvCxnSpPr>
        <p:spPr>
          <a:xfrm>
            <a:off x="7124700" y="3086100"/>
            <a:ext cx="762000" cy="9525"/>
          </a:xfrm>
          <a:prstGeom prst="line">
            <a:avLst/>
          </a:prstGeom>
          <a:ln w="27940">
            <a:solidFill>
              <a:srgbClr val="2563EB"/>
            </a:solidFill>
          </a:ln>
        </p:spPr>
      </p:cxnSp>
      <p:sp>
        <p:nvSpPr>
          <p:cNvPr id="40" name="Text 40"/>
          <p:cNvSpPr txBox="1"/>
          <p:nvPr/>
        </p:nvSpPr>
        <p:spPr>
          <a:xfrm>
            <a:off x="7791450" y="2057400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800" b="1">
                <a:solidFill>
                  <a:srgbClr val="0891B2"/>
                </a:solidFill>
                <a:latin typeface="Aptos"/>
              </a:rPr>
              <a:t>4. Publica y responde</a:t>
            </a:r>
          </a:p>
        </p:txBody>
      </p:sp>
      <p:sp>
        <p:nvSpPr>
          <p:cNvPr id="41" name="Shape 41"/>
          <p:cNvSpPr/>
          <p:nvPr/>
        </p:nvSpPr>
        <p:spPr>
          <a:xfrm>
            <a:off x="7886700" y="2647950"/>
            <a:ext cx="1524000" cy="85725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8077200" y="2895600"/>
            <a:ext cx="1143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300" b="1">
                <a:solidFill>
                  <a:srgbClr val="334155"/>
                </a:solidFill>
                <a:latin typeface="Aptos"/>
              </a:rPr>
              <a:t>Redes + WhatsApp</a:t>
            </a:r>
          </a:p>
        </p:txBody>
      </p:sp>
      <p:cxnSp>
        <p:nvCxnSpPr>
          <p:cNvPr id="43" name="Connector 43"/>
          <p:cNvCxnSpPr/>
          <p:nvPr/>
        </p:nvCxnSpPr>
        <p:spPr>
          <a:xfrm>
            <a:off x="9448800" y="3086100"/>
            <a:ext cx="742950" cy="9525"/>
          </a:xfrm>
          <a:prstGeom prst="line">
            <a:avLst/>
          </a:prstGeom>
          <a:ln w="27940">
            <a:solidFill>
              <a:srgbClr val="2563EB"/>
            </a:solidFill>
          </a:ln>
        </p:spPr>
      </p:cxnSp>
      <p:sp>
        <p:nvSpPr>
          <p:cNvPr id="50" name="Text 50"/>
          <p:cNvSpPr txBox="1"/>
          <p:nvPr/>
        </p:nvSpPr>
        <p:spPr>
          <a:xfrm>
            <a:off x="9982200" y="2057400"/>
            <a:ext cx="12382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Aptos"/>
              </a:rPr>
              <a:t>5. Vende</a:t>
            </a:r>
          </a:p>
        </p:txBody>
      </p:sp>
      <p:sp>
        <p:nvSpPr>
          <p:cNvPr id="51" name="Shape 51"/>
          <p:cNvSpPr/>
          <p:nvPr/>
        </p:nvSpPr>
        <p:spPr>
          <a:xfrm>
            <a:off x="10001250" y="2647950"/>
            <a:ext cx="1066800" cy="85725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</p:sp>
      <p:sp>
        <p:nvSpPr>
          <p:cNvPr id="52" name="Text 52"/>
          <p:cNvSpPr txBox="1"/>
          <p:nvPr/>
        </p:nvSpPr>
        <p:spPr>
          <a:xfrm>
            <a:off x="10153650" y="2895600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300" b="1">
                <a:solidFill>
                  <a:srgbClr val="334155"/>
                </a:solidFill>
                <a:latin typeface="Aptos"/>
              </a:rPr>
              <a:t>Cierre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1428750" y="4476750"/>
            <a:ext cx="90487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2200" b="1">
                <a:solidFill>
                  <a:srgbClr val="101827"/>
                </a:solidFill>
                <a:latin typeface="Aptos"/>
              </a:rPr>
              <a:t>La promesa comercial: menos tiempo armando publicaciones y mas tiempo conversando con clientes listos para comprar.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590550" y="647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Presentacion comercial MVP - SOCIA / SHOPIA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90550" y="4191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3200" b="1">
                <a:solidFill>
                  <a:srgbClr val="101827"/>
                </a:solidFill>
                <a:latin typeface="Aptos"/>
              </a:rPr>
              <a:t>Productos y promociones: el punto de partida de cada campana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9600" y="10668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El cliente no escribe desde cero: parte de su catalogo.</a:t>
            </a:r>
          </a:p>
        </p:txBody>
      </p:sp>
      <p:sp>
        <p:nvSpPr>
          <p:cNvPr id="10" name="Shape 10"/>
          <p:cNvSpPr/>
          <p:nvPr/>
        </p:nvSpPr>
        <p:spPr>
          <a:xfrm>
            <a:off x="838200" y="1733550"/>
            <a:ext cx="4095750" cy="3333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1162050" y="2057400"/>
            <a:ext cx="3238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2400" b="1">
                <a:solidFill>
                  <a:srgbClr val="2563EB"/>
                </a:solidFill>
                <a:latin typeface="Aptos"/>
              </a:rPr>
              <a:t>Ficha comercial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162050" y="2705100"/>
            <a:ext cx="3143250" cy="1466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700">
                <a:solidFill>
                  <a:srgbClr val="334155"/>
                </a:solidFill>
                <a:latin typeface="Aptos"/>
              </a:rPr>
              <a:t>Nombre, precio y promocion</a:t>
            </a:r>
          </a:p>
          <a:p>
            <a:pPr spcBef="250"/>
            <a:r>
              <a:rPr sz="1700">
                <a:solidFill>
                  <a:srgbClr val="334155"/>
                </a:solidFill>
                <a:latin typeface="Aptos"/>
              </a:rPr>
              <a:t>Descripcion corta</a:t>
            </a:r>
          </a:p>
          <a:p>
            <a:pPr spcBef="250"/>
            <a:r>
              <a:rPr sz="1700">
                <a:solidFill>
                  <a:srgbClr val="334155"/>
                </a:solidFill>
                <a:latin typeface="Aptos"/>
              </a:rPr>
              <a:t>Fotos o piezas base</a:t>
            </a:r>
          </a:p>
          <a:p>
            <a:pPr spcBef="250"/>
            <a:r>
              <a:rPr sz="1700">
                <a:solidFill>
                  <a:srgbClr val="334155"/>
                </a:solidFill>
                <a:latin typeface="Aptos"/>
              </a:rPr>
              <a:t>Beneficios clave</a:t>
            </a:r>
          </a:p>
          <a:p>
            <a:pPr spcBef="250"/>
            <a:r>
              <a:rPr sz="1700">
                <a:solidFill>
                  <a:srgbClr val="334155"/>
                </a:solidFill>
                <a:latin typeface="Aptos"/>
              </a:rPr>
              <a:t>Palabras que usa el cliente</a:t>
            </a:r>
          </a:p>
        </p:txBody>
      </p:sp>
      <p:sp>
        <p:nvSpPr>
          <p:cNvPr id="20" name="Shape 20"/>
          <p:cNvSpPr/>
          <p:nvPr/>
        </p:nvSpPr>
        <p:spPr>
          <a:xfrm>
            <a:off x="6153150" y="1524000"/>
            <a:ext cx="4095750" cy="371475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6496050" y="1943100"/>
            <a:ext cx="3238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2500" b="1">
                <a:solidFill>
                  <a:srgbClr val="2563EB"/>
                </a:solidFill>
                <a:latin typeface="Aptos"/>
              </a:rPr>
              <a:t>La app lo convierte en: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6496050" y="2762250"/>
            <a:ext cx="314325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>
                <a:solidFill>
                  <a:srgbClr val="334155"/>
                </a:solidFill>
                <a:latin typeface="Aptos"/>
              </a:rPr>
              <a:t>Ideas de campana</a:t>
            </a:r>
          </a:p>
          <a:p>
            <a:pPr spcBef="250"/>
            <a:r>
              <a:rPr sz="1800">
                <a:solidFill>
                  <a:srgbClr val="334155"/>
                </a:solidFill>
                <a:latin typeface="Aptos"/>
              </a:rPr>
              <a:t>Copys para redes</a:t>
            </a:r>
          </a:p>
          <a:p>
            <a:pPr spcBef="250"/>
            <a:r>
              <a:rPr sz="1800">
                <a:solidFill>
                  <a:srgbClr val="334155"/>
                </a:solidFill>
                <a:latin typeface="Aptos"/>
              </a:rPr>
              <a:t>Mensajes para WhatsApp</a:t>
            </a:r>
          </a:p>
          <a:p>
            <a:pPr spcBef="250"/>
            <a:r>
              <a:rPr sz="1800">
                <a:solidFill>
                  <a:srgbClr val="334155"/>
                </a:solidFill>
                <a:latin typeface="Aptos"/>
              </a:rPr>
              <a:t>Variaciones por segmento</a:t>
            </a:r>
          </a:p>
          <a:p>
            <a:pPr spcBef="250"/>
            <a:r>
              <a:rPr sz="1800">
                <a:solidFill>
                  <a:srgbClr val="334155"/>
                </a:solidFill>
                <a:latin typeface="Aptos"/>
              </a:rPr>
              <a:t>Promos listas para aprobar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590550" y="647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Presentacion comercial MVP - SOCIA / SHOPIA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90550" y="4191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3200" b="1">
                <a:solidFill>
                  <a:srgbClr val="101827"/>
                </a:solidFill>
                <a:latin typeface="Aptos"/>
              </a:rPr>
              <a:t>Clientes y segmentos: hablarle a cada grupo con el mensaje correcto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9600" y="10668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La segmentacion hace que una misma campana no sea igual para todos.</a:t>
            </a:r>
          </a:p>
        </p:txBody>
      </p:sp>
      <p:sp>
        <p:nvSpPr>
          <p:cNvPr id="10" name="Shape 10"/>
          <p:cNvSpPr/>
          <p:nvPr/>
        </p:nvSpPr>
        <p:spPr>
          <a:xfrm>
            <a:off x="781050" y="1790700"/>
            <a:ext cx="2857500" cy="16192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781050" y="1790700"/>
            <a:ext cx="76200" cy="1619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028700" y="19812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2563EB"/>
                </a:solidFill>
                <a:latin typeface="Aptos"/>
              </a:rPr>
              <a:t>Nuevos interesados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028700" y="2381250"/>
            <a:ext cx="238125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Personas que preguntaron por redes o WhatsApp y aun no compran.</a:t>
            </a:r>
          </a:p>
        </p:txBody>
      </p:sp>
      <p:sp>
        <p:nvSpPr>
          <p:cNvPr id="20" name="Shape 20"/>
          <p:cNvSpPr/>
          <p:nvPr/>
        </p:nvSpPr>
        <p:spPr>
          <a:xfrm>
            <a:off x="4114800" y="1790700"/>
            <a:ext cx="2857500" cy="16192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Shape 21"/>
          <p:cNvSpPr/>
          <p:nvPr/>
        </p:nvSpPr>
        <p:spPr>
          <a:xfrm>
            <a:off x="4114800" y="1790700"/>
            <a:ext cx="76200" cy="16192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4362450" y="19812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16A34A"/>
                </a:solidFill>
                <a:latin typeface="Aptos"/>
              </a:rPr>
              <a:t>Clientes frecuentes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4362450" y="2381250"/>
            <a:ext cx="238125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Compradores que pueden recibir promociones, lanzamientos o recompra.</a:t>
            </a:r>
          </a:p>
        </p:txBody>
      </p:sp>
      <p:sp>
        <p:nvSpPr>
          <p:cNvPr id="30" name="Shape 30"/>
          <p:cNvSpPr/>
          <p:nvPr/>
        </p:nvSpPr>
        <p:spPr>
          <a:xfrm>
            <a:off x="7448550" y="1790700"/>
            <a:ext cx="2857500" cy="16192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Shape 31"/>
          <p:cNvSpPr/>
          <p:nvPr/>
        </p:nvSpPr>
        <p:spPr>
          <a:xfrm>
            <a:off x="7448550" y="1790700"/>
            <a:ext cx="76200" cy="16192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7696200" y="19812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D97706"/>
                </a:solidFill>
                <a:latin typeface="Aptos"/>
              </a:rPr>
              <a:t>Clientes dormidos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7696200" y="2381250"/>
            <a:ext cx="238125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Contactos que dejaron de comprar y pueden reactivarse con una oferta.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1066800" y="4305300"/>
            <a:ext cx="93345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2300" b="1">
                <a:solidFill>
                  <a:srgbClr val="101827"/>
                </a:solidFill>
                <a:latin typeface="Aptos"/>
              </a:rPr>
              <a:t>El valor para el cliente: enviar menos mensajes genericos y mas ofertas relevantes segun interes, historial y comportamiento.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590550" y="647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Presentacion comercial MVP - SOCIA / SHOPIA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90550" y="4191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3200" b="1">
                <a:solidFill>
                  <a:srgbClr val="101827"/>
                </a:solidFill>
                <a:latin typeface="Aptos"/>
              </a:rPr>
              <a:t>IA para crear campanas sin bloquear al equipo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9600" y="10668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La IA ayuda a producir, pero el negocio conserva control antes de publicar.</a:t>
            </a:r>
          </a:p>
        </p:txBody>
      </p:sp>
      <p:sp>
        <p:nvSpPr>
          <p:cNvPr id="10" name="Shape 10"/>
          <p:cNvSpPr/>
          <p:nvPr/>
        </p:nvSpPr>
        <p:spPr>
          <a:xfrm>
            <a:off x="838200" y="1885950"/>
            <a:ext cx="2571750" cy="24765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1181100" y="2190750"/>
            <a:ext cx="1885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2500" b="1">
                <a:solidFill>
                  <a:srgbClr val="2563EB"/>
                </a:solidFill>
                <a:latin typeface="Aptos"/>
              </a:rPr>
              <a:t>Input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181100" y="2895600"/>
            <a:ext cx="1885950" cy="819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600">
                <a:solidFill>
                  <a:srgbClr val="334155"/>
                </a:solidFill>
                <a:latin typeface="Aptos"/>
              </a:rPr>
              <a:t>Producto</a:t>
            </a:r>
          </a:p>
          <a:p>
            <a:pPr spcBef="250"/>
            <a:r>
              <a:rPr sz="1600">
                <a:solidFill>
                  <a:srgbClr val="334155"/>
                </a:solidFill>
                <a:latin typeface="Aptos"/>
              </a:rPr>
              <a:t>Segmento</a:t>
            </a:r>
          </a:p>
          <a:p>
            <a:pPr spcBef="250"/>
            <a:r>
              <a:rPr sz="1600">
                <a:solidFill>
                  <a:srgbClr val="334155"/>
                </a:solidFill>
                <a:latin typeface="Aptos"/>
              </a:rPr>
              <a:t>Tono de marca</a:t>
            </a:r>
          </a:p>
          <a:p>
            <a:pPr spcBef="250"/>
            <a:r>
              <a:rPr sz="1600">
                <a:solidFill>
                  <a:srgbClr val="334155"/>
                </a:solidFill>
                <a:latin typeface="Aptos"/>
              </a:rPr>
              <a:t>Objetivo</a:t>
            </a:r>
          </a:p>
        </p:txBody>
      </p:sp>
      <p:cxnSp>
        <p:nvCxnSpPr>
          <p:cNvPr id="13" name="Connector 13"/>
          <p:cNvCxnSpPr/>
          <p:nvPr/>
        </p:nvCxnSpPr>
        <p:spPr>
          <a:xfrm>
            <a:off x="3429000" y="3124200"/>
            <a:ext cx="971550" cy="9525"/>
          </a:xfrm>
          <a:prstGeom prst="line">
            <a:avLst/>
          </a:prstGeom>
          <a:ln w="27940">
            <a:solidFill>
              <a:srgbClr val="2563EB"/>
            </a:solidFill>
          </a:ln>
        </p:spPr>
      </p:cxnSp>
      <p:sp>
        <p:nvSpPr>
          <p:cNvPr id="20" name="Shape 20"/>
          <p:cNvSpPr/>
          <p:nvPr/>
        </p:nvSpPr>
        <p:spPr>
          <a:xfrm>
            <a:off x="4400550" y="1524000"/>
            <a:ext cx="3143250" cy="3181350"/>
          </a:xfrm>
          <a:prstGeom prst="rect">
            <a:avLst/>
          </a:prstGeom>
          <a:solidFill>
            <a:srgbClr val="111827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4838700" y="2000250"/>
            <a:ext cx="22860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IA comercial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76800" y="2895600"/>
            <a:ext cx="22479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800">
                <a:solidFill>
                  <a:srgbClr val="CBD5E1"/>
                </a:solidFill>
                <a:latin typeface="Aptos"/>
              </a:rPr>
              <a:t>Sugiere textos, piezas, asuntos, captions y mensajes de seguimiento.</a:t>
            </a:r>
          </a:p>
        </p:txBody>
      </p:sp>
      <p:cxnSp>
        <p:nvCxnSpPr>
          <p:cNvPr id="23" name="Connector 23"/>
          <p:cNvCxnSpPr/>
          <p:nvPr/>
        </p:nvCxnSpPr>
        <p:spPr>
          <a:xfrm>
            <a:off x="7562850" y="3124200"/>
            <a:ext cx="990600" cy="9525"/>
          </a:xfrm>
          <a:prstGeom prst="line">
            <a:avLst/>
          </a:prstGeom>
          <a:ln w="27940">
            <a:solidFill>
              <a:srgbClr val="16A34A"/>
            </a:solidFill>
          </a:ln>
        </p:spPr>
      </p:cxnSp>
      <p:sp>
        <p:nvSpPr>
          <p:cNvPr id="30" name="Shape 30"/>
          <p:cNvSpPr/>
          <p:nvPr/>
        </p:nvSpPr>
        <p:spPr>
          <a:xfrm>
            <a:off x="8553450" y="1885950"/>
            <a:ext cx="2571750" cy="24765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8896350" y="2190750"/>
            <a:ext cx="1885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2500" b="1">
                <a:solidFill>
                  <a:srgbClr val="16A34A"/>
                </a:solidFill>
                <a:latin typeface="Aptos"/>
              </a:rPr>
              <a:t>Control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8896350" y="2895600"/>
            <a:ext cx="1885950" cy="819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600">
                <a:solidFill>
                  <a:srgbClr val="334155"/>
                </a:solidFill>
                <a:latin typeface="Aptos"/>
              </a:rPr>
              <a:t>Revisar</a:t>
            </a:r>
          </a:p>
          <a:p>
            <a:pPr spcBef="250"/>
            <a:r>
              <a:rPr sz="1600">
                <a:solidFill>
                  <a:srgbClr val="334155"/>
                </a:solidFill>
                <a:latin typeface="Aptos"/>
              </a:rPr>
              <a:t>Editar</a:t>
            </a:r>
          </a:p>
          <a:p>
            <a:pPr spcBef="250"/>
            <a:r>
              <a:rPr sz="1600">
                <a:solidFill>
                  <a:srgbClr val="334155"/>
                </a:solidFill>
                <a:latin typeface="Aptos"/>
              </a:rPr>
              <a:t>Aprobar</a:t>
            </a:r>
          </a:p>
          <a:p>
            <a:pPr spcBef="250"/>
            <a:r>
              <a:rPr sz="1600">
                <a:solidFill>
                  <a:srgbClr val="334155"/>
                </a:solidFill>
                <a:latin typeface="Aptos"/>
              </a:rPr>
              <a:t>Publicar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590550" y="647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Presentacion comercial MVP - SOCIA / SHOPIA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90550" y="4191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3200" b="1">
                <a:solidFill>
                  <a:srgbClr val="101827"/>
                </a:solidFill>
                <a:latin typeface="Aptos"/>
              </a:rPr>
              <a:t>Conectar redes: publicar y llevar la conversacion al canal de venta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9600" y="10668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El MVP puede empezar simple y crecer por integraciones.</a:t>
            </a:r>
          </a:p>
        </p:txBody>
      </p:sp>
      <p:sp>
        <p:nvSpPr>
          <p:cNvPr id="10" name="Shape 10"/>
          <p:cNvSpPr/>
          <p:nvPr/>
        </p:nvSpPr>
        <p:spPr>
          <a:xfrm>
            <a:off x="876300" y="1752600"/>
            <a:ext cx="2857500" cy="2190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876300" y="1752600"/>
            <a:ext cx="76200" cy="21907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123950" y="19431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2563EB"/>
                </a:solidFill>
                <a:latin typeface="Aptos"/>
              </a:rPr>
              <a:t>Facebook e Instagram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123950" y="2343150"/>
            <a:ext cx="238125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Preparar contenido y publicarlo o dejarlo listo para publicacion segun integracion disponible.</a:t>
            </a:r>
          </a:p>
        </p:txBody>
      </p:sp>
      <p:sp>
        <p:nvSpPr>
          <p:cNvPr id="20" name="Shape 20"/>
          <p:cNvSpPr/>
          <p:nvPr/>
        </p:nvSpPr>
        <p:spPr>
          <a:xfrm>
            <a:off x="4400550" y="1752600"/>
            <a:ext cx="2857500" cy="2190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Shape 21"/>
          <p:cNvSpPr/>
          <p:nvPr/>
        </p:nvSpPr>
        <p:spPr>
          <a:xfrm>
            <a:off x="4400550" y="1752600"/>
            <a:ext cx="76200" cy="21907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4648200" y="19431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16A34A"/>
                </a:solidFill>
                <a:latin typeface="Aptos"/>
              </a:rPr>
              <a:t>WhatsApp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4648200" y="2343150"/>
            <a:ext cx="238125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Capturar el interes y continuar la conversacion con mensajes preparados.</a:t>
            </a:r>
          </a:p>
        </p:txBody>
      </p:sp>
      <p:sp>
        <p:nvSpPr>
          <p:cNvPr id="30" name="Shape 30"/>
          <p:cNvSpPr/>
          <p:nvPr/>
        </p:nvSpPr>
        <p:spPr>
          <a:xfrm>
            <a:off x="7924800" y="1752600"/>
            <a:ext cx="2857500" cy="2190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Shape 31"/>
          <p:cNvSpPr/>
          <p:nvPr/>
        </p:nvSpPr>
        <p:spPr>
          <a:xfrm>
            <a:off x="7924800" y="1752600"/>
            <a:ext cx="76200" cy="21907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8172450" y="19431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D97706"/>
                </a:solidFill>
                <a:latin typeface="Aptos"/>
              </a:rPr>
              <a:t>CRM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8172450" y="2343150"/>
            <a:ext cx="238125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Guardar cada lead, origen, estado y responsable para seguimiento.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1352550" y="4724400"/>
            <a:ext cx="8858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2200" b="1">
                <a:solidFill>
                  <a:srgbClr val="101827"/>
                </a:solidFill>
                <a:latin typeface="Aptos"/>
              </a:rPr>
              <a:t>La conexion no se vende como tecnologia: se vende como continuidad entre publicar, responder y cerrar ventas.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590550" y="647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Presentacion comercial MVP - SOCIA / SHOPIA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90550" y="4191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3200" b="1">
                <a:solidFill>
                  <a:srgbClr val="101827"/>
                </a:solidFill>
                <a:latin typeface="Aptos"/>
              </a:rPr>
              <a:t>WhatsApp ventas: no perder conversaciones que ya tienen intencion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9600" y="10668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El canal donde el cliente pregunta debe quedar conectado al seguimiento.</a:t>
            </a:r>
          </a:p>
        </p:txBody>
      </p:sp>
      <p:sp>
        <p:nvSpPr>
          <p:cNvPr id="10" name="Shape 10"/>
          <p:cNvSpPr/>
          <p:nvPr/>
        </p:nvSpPr>
        <p:spPr>
          <a:xfrm>
            <a:off x="1200150" y="1428750"/>
            <a:ext cx="2000250" cy="36195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1352550" y="1714500"/>
            <a:ext cx="1695450" cy="30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1524000" y="2095500"/>
            <a:ext cx="1352550" cy="41910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1657350" y="2209800"/>
            <a:ext cx="10858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100">
                <a:solidFill>
                  <a:srgbClr val="334155"/>
                </a:solidFill>
                <a:latin typeface="Aptos"/>
              </a:rPr>
              <a:t>Hola, me interesa</a:t>
            </a:r>
          </a:p>
        </p:txBody>
      </p:sp>
      <p:sp>
        <p:nvSpPr>
          <p:cNvPr id="14" name="Shape 14"/>
          <p:cNvSpPr/>
          <p:nvPr/>
        </p:nvSpPr>
        <p:spPr>
          <a:xfrm>
            <a:off x="1524000" y="2667000"/>
            <a:ext cx="1352550" cy="47625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1657350" y="2762250"/>
            <a:ext cx="10858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050">
                <a:solidFill>
                  <a:srgbClr val="334155"/>
                </a:solidFill>
                <a:latin typeface="Aptos"/>
              </a:rPr>
              <a:t>Te envio catalogo y promo</a:t>
            </a:r>
          </a:p>
        </p:txBody>
      </p:sp>
      <p:sp>
        <p:nvSpPr>
          <p:cNvPr id="16" name="Shape 16"/>
          <p:cNvSpPr/>
          <p:nvPr/>
        </p:nvSpPr>
        <p:spPr>
          <a:xfrm>
            <a:off x="1524000" y="3314700"/>
            <a:ext cx="1352550" cy="43815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1657350" y="3429000"/>
            <a:ext cx="10858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100">
                <a:solidFill>
                  <a:srgbClr val="334155"/>
                </a:solidFill>
                <a:latin typeface="Aptos"/>
              </a:rPr>
              <a:t>Asignado a vendedor</a:t>
            </a:r>
          </a:p>
        </p:txBody>
      </p:sp>
      <p:sp>
        <p:nvSpPr>
          <p:cNvPr id="30" name="Shape 30"/>
          <p:cNvSpPr/>
          <p:nvPr/>
        </p:nvSpPr>
        <p:spPr>
          <a:xfrm>
            <a:off x="4248150" y="1714500"/>
            <a:ext cx="2857500" cy="128587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Shape 31"/>
          <p:cNvSpPr/>
          <p:nvPr/>
        </p:nvSpPr>
        <p:spPr>
          <a:xfrm>
            <a:off x="4248150" y="1714500"/>
            <a:ext cx="76200" cy="1285875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4495800" y="19050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2563EB"/>
                </a:solidFill>
                <a:latin typeface="Aptos"/>
              </a:rPr>
              <a:t>Captura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4495800" y="2305050"/>
            <a:ext cx="2381250" cy="542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Registrar quien escribio, por que producto y desde que campana llego.</a:t>
            </a:r>
          </a:p>
        </p:txBody>
      </p:sp>
      <p:sp>
        <p:nvSpPr>
          <p:cNvPr id="40" name="Shape 40"/>
          <p:cNvSpPr/>
          <p:nvPr/>
        </p:nvSpPr>
        <p:spPr>
          <a:xfrm>
            <a:off x="4248150" y="3333750"/>
            <a:ext cx="2857500" cy="128587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1" name="Shape 41"/>
          <p:cNvSpPr/>
          <p:nvPr/>
        </p:nvSpPr>
        <p:spPr>
          <a:xfrm>
            <a:off x="4248150" y="3333750"/>
            <a:ext cx="76200" cy="1285875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4495800" y="352425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16A34A"/>
                </a:solidFill>
                <a:latin typeface="Aptos"/>
              </a:rPr>
              <a:t>Respuesta guiada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4495800" y="3924300"/>
            <a:ext cx="2381250" cy="542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Usar mensajes sugeridos para responder rapido y con tono correcto.</a:t>
            </a:r>
          </a:p>
        </p:txBody>
      </p:sp>
      <p:sp>
        <p:nvSpPr>
          <p:cNvPr id="50" name="Shape 50"/>
          <p:cNvSpPr/>
          <p:nvPr/>
        </p:nvSpPr>
        <p:spPr>
          <a:xfrm>
            <a:off x="7810500" y="1714500"/>
            <a:ext cx="2857500" cy="128587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51" name="Shape 51"/>
          <p:cNvSpPr/>
          <p:nvPr/>
        </p:nvSpPr>
        <p:spPr>
          <a:xfrm>
            <a:off x="7810500" y="1714500"/>
            <a:ext cx="76200" cy="1285875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52" name="Text 52"/>
          <p:cNvSpPr txBox="1"/>
          <p:nvPr/>
        </p:nvSpPr>
        <p:spPr>
          <a:xfrm>
            <a:off x="8058150" y="19050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D97706"/>
                </a:solidFill>
                <a:latin typeface="Aptos"/>
              </a:rPr>
              <a:t>Asignacion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8058150" y="2305050"/>
            <a:ext cx="2381250" cy="542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Enviar la conversacion al vendedor o responsable correcto.</a:t>
            </a:r>
          </a:p>
        </p:txBody>
      </p:sp>
      <p:sp>
        <p:nvSpPr>
          <p:cNvPr id="60" name="Shape 60"/>
          <p:cNvSpPr/>
          <p:nvPr/>
        </p:nvSpPr>
        <p:spPr>
          <a:xfrm>
            <a:off x="7810500" y="3333750"/>
            <a:ext cx="2857500" cy="128587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61" name="Shape 61"/>
          <p:cNvSpPr/>
          <p:nvPr/>
        </p:nvSpPr>
        <p:spPr>
          <a:xfrm>
            <a:off x="7810500" y="3333750"/>
            <a:ext cx="76200" cy="1285875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62" name="Text 62"/>
          <p:cNvSpPr txBox="1"/>
          <p:nvPr/>
        </p:nvSpPr>
        <p:spPr>
          <a:xfrm>
            <a:off x="8058150" y="352425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0891B2"/>
                </a:solidFill>
                <a:latin typeface="Aptos"/>
              </a:rPr>
              <a:t>Seguimiento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8058150" y="3924300"/>
            <a:ext cx="2381250" cy="542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Recordar oportunidades abiertas y medir conversion.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590550" y="647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Presentacion comercial MVP - SOCIA / SHOPIA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90550" y="4191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3200" b="1">
                <a:solidFill>
                  <a:srgbClr val="101827"/>
                </a:solidFill>
                <a:latin typeface="Aptos"/>
              </a:rPr>
              <a:t>Panel de resultados: saber que funciona y que debe repetirse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9600" y="10668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El cliente necesita decisiones simples: que publico, que atrajo clientes y que vendio.</a:t>
            </a:r>
          </a:p>
        </p:txBody>
      </p:sp>
      <p:sp>
        <p:nvSpPr>
          <p:cNvPr id="10" name="Shape 10"/>
          <p:cNvSpPr/>
          <p:nvPr/>
        </p:nvSpPr>
        <p:spPr>
          <a:xfrm>
            <a:off x="876300" y="1562100"/>
            <a:ext cx="49530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876300" y="1562100"/>
            <a:ext cx="4953000" cy="419100"/>
          </a:xfrm>
          <a:prstGeom prst="rect">
            <a:avLst/>
          </a:prstGeom>
          <a:solidFill>
            <a:srgbClr val="111827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085850" y="1676400"/>
            <a:ext cx="45339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00" b="1">
                <a:solidFill>
                  <a:srgbClr val="FFFFFF"/>
                </a:solidFill>
                <a:latin typeface="Aptos"/>
              </a:rPr>
              <a:t>Panel comercial</a:t>
            </a:r>
          </a:p>
        </p:txBody>
      </p:sp>
      <p:sp>
        <p:nvSpPr>
          <p:cNvPr id="13" name="Shape 13"/>
          <p:cNvSpPr/>
          <p:nvPr/>
        </p:nvSpPr>
        <p:spPr>
          <a:xfrm>
            <a:off x="1143000" y="2286000"/>
            <a:ext cx="1200150" cy="704850"/>
          </a:xfrm>
          <a:prstGeom prst="rect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1333500" y="2457450"/>
            <a:ext cx="838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100" b="1">
                <a:solidFill>
                  <a:srgbClr val="334155"/>
                </a:solidFill>
                <a:latin typeface="Aptos"/>
              </a:rPr>
              <a:t>Leads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333500" y="2667000"/>
            <a:ext cx="8382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+38%</a:t>
            </a:r>
          </a:p>
        </p:txBody>
      </p:sp>
      <p:sp>
        <p:nvSpPr>
          <p:cNvPr id="16" name="Shape 16"/>
          <p:cNvSpPr/>
          <p:nvPr/>
        </p:nvSpPr>
        <p:spPr>
          <a:xfrm>
            <a:off x="2571750" y="2286000"/>
            <a:ext cx="1200150" cy="704850"/>
          </a:xfrm>
          <a:prstGeom prst="rect">
            <a:avLst/>
          </a:prstGeom>
          <a:solidFill>
            <a:srgbClr val="DCFCE7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2743200" y="2457450"/>
            <a:ext cx="8763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100" b="1">
                <a:solidFill>
                  <a:srgbClr val="334155"/>
                </a:solidFill>
                <a:latin typeface="Aptos"/>
              </a:rPr>
              <a:t>Ventas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2743200" y="2667000"/>
            <a:ext cx="8763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Aptos"/>
              </a:rPr>
              <a:t>+21%</a:t>
            </a:r>
          </a:p>
        </p:txBody>
      </p:sp>
      <p:sp>
        <p:nvSpPr>
          <p:cNvPr id="19" name="Shape 19"/>
          <p:cNvSpPr/>
          <p:nvPr/>
        </p:nvSpPr>
        <p:spPr>
          <a:xfrm>
            <a:off x="4019550" y="2286000"/>
            <a:ext cx="1200150" cy="704850"/>
          </a:xfrm>
          <a:prstGeom prst="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4171950" y="2457450"/>
            <a:ext cx="8953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100" b="1">
                <a:solidFill>
                  <a:srgbClr val="334155"/>
                </a:solidFill>
                <a:latin typeface="Aptos"/>
              </a:rPr>
              <a:t>Campanas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4171950" y="2667000"/>
            <a:ext cx="8953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800" b="1">
                <a:solidFill>
                  <a:srgbClr val="D97706"/>
                </a:solidFill>
                <a:latin typeface="Aptos"/>
              </a:rPr>
              <a:t>12</a:t>
            </a:r>
          </a:p>
        </p:txBody>
      </p:sp>
      <p:sp>
        <p:nvSpPr>
          <p:cNvPr id="22" name="Shape 22"/>
          <p:cNvSpPr/>
          <p:nvPr/>
        </p:nvSpPr>
        <p:spPr>
          <a:xfrm>
            <a:off x="1181100" y="3448050"/>
            <a:ext cx="4343400" cy="11239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1562100" y="4114800"/>
            <a:ext cx="266700" cy="3238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4" name="Shape 24"/>
          <p:cNvSpPr/>
          <p:nvPr/>
        </p:nvSpPr>
        <p:spPr>
          <a:xfrm>
            <a:off x="2057400" y="3867150"/>
            <a:ext cx="2667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5" name="Shape 25"/>
          <p:cNvSpPr/>
          <p:nvPr/>
        </p:nvSpPr>
        <p:spPr>
          <a:xfrm>
            <a:off x="2552700" y="3695700"/>
            <a:ext cx="266700" cy="7429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6" name="Shape 26"/>
          <p:cNvSpPr/>
          <p:nvPr/>
        </p:nvSpPr>
        <p:spPr>
          <a:xfrm>
            <a:off x="3048000" y="3543300"/>
            <a:ext cx="266700" cy="8953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7" name="Shape 27"/>
          <p:cNvSpPr/>
          <p:nvPr/>
        </p:nvSpPr>
        <p:spPr>
          <a:xfrm>
            <a:off x="3543300" y="3352800"/>
            <a:ext cx="266700" cy="10858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40" name="Shape 40"/>
          <p:cNvSpPr/>
          <p:nvPr/>
        </p:nvSpPr>
        <p:spPr>
          <a:xfrm>
            <a:off x="6667500" y="1733550"/>
            <a:ext cx="342900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1" name="Shape 41"/>
          <p:cNvSpPr/>
          <p:nvPr/>
        </p:nvSpPr>
        <p:spPr>
          <a:xfrm>
            <a:off x="6667500" y="1733550"/>
            <a:ext cx="76200" cy="9525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6915150" y="1924050"/>
            <a:ext cx="29527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2563EB"/>
                </a:solidFill>
                <a:latin typeface="Aptos"/>
              </a:rPr>
              <a:t>Campanas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6915150" y="2324100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Cuales estan activas, pausadas o pendientes de aprobar.</a:t>
            </a:r>
          </a:p>
        </p:txBody>
      </p:sp>
      <p:sp>
        <p:nvSpPr>
          <p:cNvPr id="50" name="Shape 50"/>
          <p:cNvSpPr/>
          <p:nvPr/>
        </p:nvSpPr>
        <p:spPr>
          <a:xfrm>
            <a:off x="6667500" y="2952750"/>
            <a:ext cx="342900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51" name="Shape 51"/>
          <p:cNvSpPr/>
          <p:nvPr/>
        </p:nvSpPr>
        <p:spPr>
          <a:xfrm>
            <a:off x="6667500" y="2952750"/>
            <a:ext cx="76200" cy="9525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52" name="Text 52"/>
          <p:cNvSpPr txBox="1"/>
          <p:nvPr/>
        </p:nvSpPr>
        <p:spPr>
          <a:xfrm>
            <a:off x="6915150" y="3143250"/>
            <a:ext cx="29527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16A34A"/>
                </a:solidFill>
                <a:latin typeface="Aptos"/>
              </a:rPr>
              <a:t>Leads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6915150" y="3543300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Cuantos llegaron y desde que canal.</a:t>
            </a:r>
          </a:p>
        </p:txBody>
      </p:sp>
      <p:sp>
        <p:nvSpPr>
          <p:cNvPr id="60" name="Shape 60"/>
          <p:cNvSpPr/>
          <p:nvPr/>
        </p:nvSpPr>
        <p:spPr>
          <a:xfrm>
            <a:off x="6667500" y="4171950"/>
            <a:ext cx="342900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61" name="Shape 61"/>
          <p:cNvSpPr/>
          <p:nvPr/>
        </p:nvSpPr>
        <p:spPr>
          <a:xfrm>
            <a:off x="6667500" y="4171950"/>
            <a:ext cx="76200" cy="9525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62" name="Text 62"/>
          <p:cNvSpPr txBox="1"/>
          <p:nvPr/>
        </p:nvSpPr>
        <p:spPr>
          <a:xfrm>
            <a:off x="6915150" y="4362450"/>
            <a:ext cx="29527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D97706"/>
                </a:solidFill>
                <a:latin typeface="Aptos"/>
              </a:rPr>
              <a:t>Ventas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6915150" y="4762500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Que oportunidades avanzaron y que productos generan interes.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590550" y="647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Presentacion comercial MVP - SOCIA / SHOPIA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90550" y="4191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3200" b="1">
                <a:solidFill>
                  <a:srgbClr val="101827"/>
                </a:solidFill>
                <a:latin typeface="Aptos"/>
              </a:rPr>
              <a:t>Alcance MVP: suficiente para vender valor sin prometer de mas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9600" y="10668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La primera version debe demostrar impacto comercial rapidamente.</a:t>
            </a:r>
          </a:p>
        </p:txBody>
      </p:sp>
      <p:sp>
        <p:nvSpPr>
          <p:cNvPr id="10" name="Shape 10"/>
          <p:cNvSpPr/>
          <p:nvPr/>
        </p:nvSpPr>
        <p:spPr>
          <a:xfrm>
            <a:off x="819150" y="1657350"/>
            <a:ext cx="3143250" cy="2571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819150" y="1657350"/>
            <a:ext cx="76200" cy="25717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066800" y="184785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16A34A"/>
                </a:solidFill>
                <a:latin typeface="Aptos"/>
              </a:rPr>
              <a:t>Incluido en MVP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066800" y="2247900"/>
            <a:ext cx="26670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Catalogo de productos</a:t>
            </a:r>
          </a:p>
          <a:p>
            <a:pPr spcBef="250"/>
            <a:r>
              <a:rPr sz="1350">
                <a:solidFill>
                  <a:srgbClr val="334155"/>
                </a:solidFill>
                <a:latin typeface="Aptos"/>
              </a:rPr>
              <a:t>CRM de clientes y leads</a:t>
            </a:r>
          </a:p>
          <a:p>
            <a:pPr spcBef="250"/>
            <a:r>
              <a:rPr sz="1350">
                <a:solidFill>
                  <a:srgbClr val="334155"/>
                </a:solidFill>
                <a:latin typeface="Aptos"/>
              </a:rPr>
              <a:t>Segmentacion basica</a:t>
            </a:r>
          </a:p>
          <a:p>
            <a:pPr spcBef="250"/>
            <a:r>
              <a:rPr sz="1350">
                <a:solidFill>
                  <a:srgbClr val="334155"/>
                </a:solidFill>
                <a:latin typeface="Aptos"/>
              </a:rPr>
              <a:t>Campanas con apoyo IA</a:t>
            </a:r>
          </a:p>
          <a:p>
            <a:pPr spcBef="250"/>
            <a:r>
              <a:rPr sz="1350">
                <a:solidFill>
                  <a:srgbClr val="334155"/>
                </a:solidFill>
                <a:latin typeface="Aptos"/>
              </a:rPr>
              <a:t>Publicacion/redireccion a redes</a:t>
            </a:r>
          </a:p>
          <a:p>
            <a:pPr spcBef="250"/>
            <a:r>
              <a:rPr sz="1350">
                <a:solidFill>
                  <a:srgbClr val="334155"/>
                </a:solidFill>
                <a:latin typeface="Aptos"/>
              </a:rPr>
              <a:t>WhatsApp con mensajes guiados</a:t>
            </a:r>
          </a:p>
          <a:p>
            <a:pPr spcBef="250"/>
            <a:r>
              <a:rPr sz="1350">
                <a:solidFill>
                  <a:srgbClr val="334155"/>
                </a:solidFill>
                <a:latin typeface="Aptos"/>
              </a:rPr>
              <a:t>Panel de resultados</a:t>
            </a:r>
          </a:p>
        </p:txBody>
      </p:sp>
      <p:sp>
        <p:nvSpPr>
          <p:cNvPr id="30" name="Shape 30"/>
          <p:cNvSpPr/>
          <p:nvPr/>
        </p:nvSpPr>
        <p:spPr>
          <a:xfrm>
            <a:off x="4533900" y="1657350"/>
            <a:ext cx="3143250" cy="2571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Shape 31"/>
          <p:cNvSpPr/>
          <p:nvPr/>
        </p:nvSpPr>
        <p:spPr>
          <a:xfrm>
            <a:off x="4533900" y="1657350"/>
            <a:ext cx="76200" cy="25717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4781550" y="184785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D97706"/>
                </a:solidFill>
                <a:latin typeface="Aptos"/>
              </a:rPr>
              <a:t>No vender como listo aun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4781550" y="2247900"/>
            <a:ext cx="26670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Meta Ads avanzado</a:t>
            </a:r>
          </a:p>
          <a:p>
            <a:pPr spcBef="250"/>
            <a:r>
              <a:rPr sz="1350">
                <a:solidFill>
                  <a:srgbClr val="334155"/>
                </a:solidFill>
                <a:latin typeface="Aptos"/>
              </a:rPr>
              <a:t>Chatbot autonomo completo</a:t>
            </a:r>
          </a:p>
          <a:p>
            <a:pPr spcBef="250"/>
            <a:r>
              <a:rPr sz="1350">
                <a:solidFill>
                  <a:srgbClr val="334155"/>
                </a:solidFill>
                <a:latin typeface="Aptos"/>
              </a:rPr>
              <a:t>Integracion oficial profunda de WhatsApp</a:t>
            </a:r>
          </a:p>
          <a:p>
            <a:pPr spcBef="250"/>
            <a:r>
              <a:rPr sz="1350">
                <a:solidFill>
                  <a:srgbClr val="334155"/>
                </a:solidFill>
                <a:latin typeface="Aptos"/>
              </a:rPr>
              <a:t>Automatizaciones complejas</a:t>
            </a:r>
          </a:p>
          <a:p>
            <a:pPr spcBef="250"/>
            <a:r>
              <a:rPr sz="1350">
                <a:solidFill>
                  <a:srgbClr val="334155"/>
                </a:solidFill>
                <a:latin typeface="Aptos"/>
              </a:rPr>
              <a:t>Analitica predictiva</a:t>
            </a:r>
          </a:p>
        </p:txBody>
      </p:sp>
      <p:sp>
        <p:nvSpPr>
          <p:cNvPr id="50" name="Shape 50"/>
          <p:cNvSpPr/>
          <p:nvPr/>
        </p:nvSpPr>
        <p:spPr>
          <a:xfrm>
            <a:off x="8248650" y="1657350"/>
            <a:ext cx="2857500" cy="2571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51" name="Shape 51"/>
          <p:cNvSpPr/>
          <p:nvPr/>
        </p:nvSpPr>
        <p:spPr>
          <a:xfrm>
            <a:off x="8248650" y="1657350"/>
            <a:ext cx="76200" cy="25717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2" name="Text 52"/>
          <p:cNvSpPr txBox="1"/>
          <p:nvPr/>
        </p:nvSpPr>
        <p:spPr>
          <a:xfrm>
            <a:off x="8496300" y="184785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2563EB"/>
                </a:solidFill>
                <a:latin typeface="Aptos"/>
              </a:rPr>
              <a:t>Mensaje honesto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8496300" y="2247900"/>
            <a:ext cx="238125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Primero ordenamos el proceso comercial. Despues automatizamos mas piezas con datos reales.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590550" y="647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Presentacion comercial MVP - SOCIA / SHOPIA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90550" y="4191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3200" b="1">
                <a:solidFill>
                  <a:srgbClr val="101827"/>
                </a:solidFill>
                <a:latin typeface="Aptos"/>
              </a:rPr>
              <a:t>Futuro: donde puede crecer la plataforma despues del MVP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9600" y="10668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El roadmap se presenta como evolucion, no como promesa inmediata.</a:t>
            </a:r>
          </a:p>
        </p:txBody>
      </p:sp>
      <p:sp>
        <p:nvSpPr>
          <p:cNvPr id="10" name="Shape 10"/>
          <p:cNvSpPr/>
          <p:nvPr/>
        </p:nvSpPr>
        <p:spPr>
          <a:xfrm>
            <a:off x="704850" y="1714500"/>
            <a:ext cx="2381250" cy="23812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704850" y="1714500"/>
            <a:ext cx="76200" cy="2381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952500" y="19050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2563EB"/>
                </a:solidFill>
                <a:latin typeface="Aptos"/>
              </a:rPr>
              <a:t>Meta Ads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52500" y="2305050"/>
            <a:ext cx="1905000" cy="1638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Crear, probar y optimizar anuncios pagos desde el mismo flujo.</a:t>
            </a:r>
          </a:p>
        </p:txBody>
      </p:sp>
      <p:sp>
        <p:nvSpPr>
          <p:cNvPr id="20" name="Shape 20"/>
          <p:cNvSpPr/>
          <p:nvPr/>
        </p:nvSpPr>
        <p:spPr>
          <a:xfrm>
            <a:off x="3505200" y="1714500"/>
            <a:ext cx="2381250" cy="23812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Shape 21"/>
          <p:cNvSpPr/>
          <p:nvPr/>
        </p:nvSpPr>
        <p:spPr>
          <a:xfrm>
            <a:off x="3505200" y="1714500"/>
            <a:ext cx="76200" cy="23812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3752850" y="19050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16A34A"/>
                </a:solidFill>
                <a:latin typeface="Aptos"/>
              </a:rPr>
              <a:t>Chatbot IA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3752850" y="2305050"/>
            <a:ext cx="1905000" cy="1638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Responder preguntas frecuentes y transferir cuando haya oportunidad real.</a:t>
            </a:r>
          </a:p>
        </p:txBody>
      </p:sp>
      <p:sp>
        <p:nvSpPr>
          <p:cNvPr id="30" name="Shape 30"/>
          <p:cNvSpPr/>
          <p:nvPr/>
        </p:nvSpPr>
        <p:spPr>
          <a:xfrm>
            <a:off x="6305550" y="1714500"/>
            <a:ext cx="2381250" cy="23812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Shape 31"/>
          <p:cNvSpPr/>
          <p:nvPr/>
        </p:nvSpPr>
        <p:spPr>
          <a:xfrm>
            <a:off x="6305550" y="1714500"/>
            <a:ext cx="76200" cy="23812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6553200" y="19050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D97706"/>
                </a:solidFill>
                <a:latin typeface="Aptos"/>
              </a:rPr>
              <a:t>Competencia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6553200" y="2305050"/>
            <a:ext cx="1905000" cy="1638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Analizar ofertas y mensajes de competidores para mejorar campanas.</a:t>
            </a:r>
          </a:p>
        </p:txBody>
      </p:sp>
      <p:sp>
        <p:nvSpPr>
          <p:cNvPr id="40" name="Shape 40"/>
          <p:cNvSpPr/>
          <p:nvPr/>
        </p:nvSpPr>
        <p:spPr>
          <a:xfrm>
            <a:off x="9105900" y="1714500"/>
            <a:ext cx="2381250" cy="23812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1" name="Shape 41"/>
          <p:cNvSpPr/>
          <p:nvPr/>
        </p:nvSpPr>
        <p:spPr>
          <a:xfrm>
            <a:off x="9105900" y="1714500"/>
            <a:ext cx="76200" cy="2381250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9353550" y="19050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0891B2"/>
                </a:solidFill>
                <a:latin typeface="Aptos"/>
              </a:rPr>
              <a:t>Automatizacion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9353550" y="2305050"/>
            <a:ext cx="1905000" cy="1638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Flujos de reactivacion, recompra, seguimiento y nutricion.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590550" y="647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Presentacion comercial MVP - SOCIA / SHOPIA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90550" y="4191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3200" b="1">
                <a:solidFill>
                  <a:srgbClr val="101827"/>
                </a:solidFill>
                <a:latin typeface="Aptos"/>
              </a:rPr>
              <a:t>Como se vende el servicio al cliente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9600" y="10668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El discurso debe enfocarse en resultados visibles.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90600" y="1809750"/>
            <a:ext cx="9334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2700" b="1">
                <a:solidFill>
                  <a:srgbClr val="101827"/>
                </a:solidFill>
                <a:latin typeface="Aptos"/>
              </a:rPr>
              <a:t>No vendemos un CRM. Vendemos una forma de convertir publicaciones, mensajes y clientes dispersos en un proceso comercial ordenado.</a:t>
            </a:r>
          </a:p>
        </p:txBody>
      </p:sp>
      <p:sp>
        <p:nvSpPr>
          <p:cNvPr id="20" name="Shape 20"/>
          <p:cNvSpPr/>
          <p:nvPr/>
        </p:nvSpPr>
        <p:spPr>
          <a:xfrm>
            <a:off x="1028700" y="3048000"/>
            <a:ext cx="2857500" cy="142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Shape 21"/>
          <p:cNvSpPr/>
          <p:nvPr/>
        </p:nvSpPr>
        <p:spPr>
          <a:xfrm>
            <a:off x="1028700" y="3048000"/>
            <a:ext cx="76200" cy="14287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1276350" y="32385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2563EB"/>
                </a:solidFill>
                <a:latin typeface="Aptos"/>
              </a:rPr>
              <a:t>Para marketing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1276350" y="3638550"/>
            <a:ext cx="23812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Crear mas rapido y publicar con consistencia.</a:t>
            </a:r>
          </a:p>
        </p:txBody>
      </p:sp>
      <p:sp>
        <p:nvSpPr>
          <p:cNvPr id="30" name="Shape 30"/>
          <p:cNvSpPr/>
          <p:nvPr/>
        </p:nvSpPr>
        <p:spPr>
          <a:xfrm>
            <a:off x="4667250" y="3048000"/>
            <a:ext cx="2857500" cy="142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Shape 31"/>
          <p:cNvSpPr/>
          <p:nvPr/>
        </p:nvSpPr>
        <p:spPr>
          <a:xfrm>
            <a:off x="4667250" y="3048000"/>
            <a:ext cx="76200" cy="14287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4914900" y="32385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16A34A"/>
                </a:solidFill>
                <a:latin typeface="Aptos"/>
              </a:rPr>
              <a:t>Para ventas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4914900" y="3638550"/>
            <a:ext cx="23812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Responder y hacer seguimiento sin perder oportunidades.</a:t>
            </a:r>
          </a:p>
        </p:txBody>
      </p:sp>
      <p:sp>
        <p:nvSpPr>
          <p:cNvPr id="40" name="Shape 40"/>
          <p:cNvSpPr/>
          <p:nvPr/>
        </p:nvSpPr>
        <p:spPr>
          <a:xfrm>
            <a:off x="8305800" y="3048000"/>
            <a:ext cx="2857500" cy="142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1" name="Shape 41"/>
          <p:cNvSpPr/>
          <p:nvPr/>
        </p:nvSpPr>
        <p:spPr>
          <a:xfrm>
            <a:off x="8305800" y="3048000"/>
            <a:ext cx="76200" cy="14287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8553450" y="32385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D97706"/>
                </a:solidFill>
                <a:latin typeface="Aptos"/>
              </a:rPr>
              <a:t>Para gerencia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8553450" y="3638550"/>
            <a:ext cx="23812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Ver que campañas y productos generan resultados.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590550" y="647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Presentacion comercial MVP - SOCIA / SHOPIA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90550" y="4191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3200" b="1">
                <a:solidFill>
                  <a:srgbClr val="101827"/>
                </a:solidFill>
                <a:latin typeface="Aptos"/>
              </a:rPr>
              <a:t>Ejemplo de uso: campana para mover un producto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9600" y="10668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Una historia simple que el cliente puede imaginar en su negocio.</a:t>
            </a:r>
          </a:p>
        </p:txBody>
      </p:sp>
      <p:sp>
        <p:nvSpPr>
          <p:cNvPr id="10" name="Shape 10"/>
          <p:cNvSpPr/>
          <p:nvPr/>
        </p:nvSpPr>
        <p:spPr>
          <a:xfrm>
            <a:off x="742950" y="1695450"/>
            <a:ext cx="2476500" cy="2190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742950" y="1695450"/>
            <a:ext cx="76200" cy="21907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990600" y="1885950"/>
            <a:ext cx="2000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2563EB"/>
                </a:solidFill>
                <a:latin typeface="Aptos"/>
              </a:rPr>
              <a:t>1. Selecciona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90600" y="2286000"/>
            <a:ext cx="200025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Elige producto, precio, promocion y objetivo: vender mas esta semana.</a:t>
            </a:r>
          </a:p>
        </p:txBody>
      </p:sp>
      <p:sp>
        <p:nvSpPr>
          <p:cNvPr id="20" name="Shape 20"/>
          <p:cNvSpPr/>
          <p:nvPr/>
        </p:nvSpPr>
        <p:spPr>
          <a:xfrm>
            <a:off x="3562350" y="1695450"/>
            <a:ext cx="2476500" cy="2190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Shape 21"/>
          <p:cNvSpPr/>
          <p:nvPr/>
        </p:nvSpPr>
        <p:spPr>
          <a:xfrm>
            <a:off x="3562350" y="1695450"/>
            <a:ext cx="76200" cy="21907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3810000" y="1885950"/>
            <a:ext cx="2000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16A34A"/>
                </a:solidFill>
                <a:latin typeface="Aptos"/>
              </a:rPr>
              <a:t>2. Segmenta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3810000" y="2286000"/>
            <a:ext cx="200025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Escoge interesados recientes, compradores frecuentes o clientes dormidos.</a:t>
            </a:r>
          </a:p>
        </p:txBody>
      </p:sp>
      <p:sp>
        <p:nvSpPr>
          <p:cNvPr id="30" name="Shape 30"/>
          <p:cNvSpPr/>
          <p:nvPr/>
        </p:nvSpPr>
        <p:spPr>
          <a:xfrm>
            <a:off x="6381750" y="1695450"/>
            <a:ext cx="2476500" cy="2190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Shape 31"/>
          <p:cNvSpPr/>
          <p:nvPr/>
        </p:nvSpPr>
        <p:spPr>
          <a:xfrm>
            <a:off x="6381750" y="1695450"/>
            <a:ext cx="76200" cy="21907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6629400" y="1885950"/>
            <a:ext cx="2000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D97706"/>
                </a:solidFill>
                <a:latin typeface="Aptos"/>
              </a:rPr>
              <a:t>3. Genera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6629400" y="2286000"/>
            <a:ext cx="200025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La IA propone textos, piezas y mensajes segun cada segmento.</a:t>
            </a:r>
          </a:p>
        </p:txBody>
      </p:sp>
      <p:sp>
        <p:nvSpPr>
          <p:cNvPr id="40" name="Shape 40"/>
          <p:cNvSpPr/>
          <p:nvPr/>
        </p:nvSpPr>
        <p:spPr>
          <a:xfrm>
            <a:off x="9201150" y="1695450"/>
            <a:ext cx="2286000" cy="2190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1" name="Shape 41"/>
          <p:cNvSpPr/>
          <p:nvPr/>
        </p:nvSpPr>
        <p:spPr>
          <a:xfrm>
            <a:off x="9201150" y="1695450"/>
            <a:ext cx="76200" cy="2190750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9448800" y="1885950"/>
            <a:ext cx="18097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0891B2"/>
                </a:solidFill>
                <a:latin typeface="Aptos"/>
              </a:rPr>
              <a:t>4. Atiende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9448800" y="2286000"/>
            <a:ext cx="180975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Publica, recibe leads por WhatsApp y da seguimiento.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1428750" y="4724400"/>
            <a:ext cx="93345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2200" b="1">
                <a:solidFill>
                  <a:srgbClr val="101827"/>
                </a:solidFill>
                <a:latin typeface="Aptos"/>
              </a:rPr>
              <a:t>Ese es el valor que debe quedar claro: de una idea comercial a conversaciones de venta en pocos pasos.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590550" y="647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Presentacion comercial MVP - SOCIA / SHOPIA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90550" y="4191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3200" b="1">
                <a:solidFill>
                  <a:srgbClr val="101827"/>
                </a:solidFill>
                <a:latin typeface="Aptos"/>
              </a:rPr>
              <a:t>Propuesta de valor resumida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9600" y="10668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Una frase clara para cerrar la conversacion.</a:t>
            </a:r>
          </a:p>
        </p:txBody>
      </p:sp>
      <p:sp>
        <p:nvSpPr>
          <p:cNvPr id="10" name="Shape 10"/>
          <p:cNvSpPr/>
          <p:nvPr/>
        </p:nvSpPr>
        <p:spPr>
          <a:xfrm>
            <a:off x="1143000" y="1619250"/>
            <a:ext cx="9906000" cy="2571750"/>
          </a:xfrm>
          <a:prstGeom prst="rect">
            <a:avLst/>
          </a:prstGeom>
          <a:solidFill>
            <a:srgbClr val="111827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1714500" y="2247900"/>
            <a:ext cx="87630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Aptos"/>
              </a:rPr>
              <a:t>SOCIA / SHOPIA ayuda a que un negocio cree campañas, segmente clientes y atienda oportunidades desde redes sociales y WhatsApp, sin depender de procesos manuales dispersos.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2000250" y="4762500"/>
            <a:ext cx="8191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ptos"/>
              </a:rPr>
              <a:t>MVP: ordenar y activar ventas. Futuro: automatizar y optimizar con datos reales.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590550" y="647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Presentacion comercial MVP - SOCIA / SHOPIA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685800" y="666750"/>
            <a:ext cx="1485900" cy="28575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800100" y="723900"/>
            <a:ext cx="12573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CIERRE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2950" y="14097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4200" b="1">
                <a:solidFill>
                  <a:srgbClr val="FFFFFF"/>
                </a:solidFill>
                <a:latin typeface="Aptos"/>
              </a:rPr>
              <a:t>De publicar por publicar a vender con seguimiento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81050" y="3028950"/>
            <a:ext cx="6477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2300">
                <a:solidFill>
                  <a:srgbClr val="CBD5E1"/>
                </a:solidFill>
                <a:latin typeface="Aptos"/>
              </a:rPr>
              <a:t>La app conecta productos, clientes, campañas, IA, redes sociales y WhatsApp en un flujo que el negocio entiende y usa todos los dias.</a:t>
            </a:r>
          </a:p>
        </p:txBody>
      </p:sp>
      <p:sp>
        <p:nvSpPr>
          <p:cNvPr id="20" name="Shape 20"/>
          <p:cNvSpPr/>
          <p:nvPr/>
        </p:nvSpPr>
        <p:spPr>
          <a:xfrm>
            <a:off x="8429625" y="1257300"/>
            <a:ext cx="2000250" cy="36195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8582025" y="1543050"/>
            <a:ext cx="1695450" cy="30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8753475" y="1924050"/>
            <a:ext cx="1352550" cy="41910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8886825" y="2038350"/>
            <a:ext cx="10858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100">
                <a:solidFill>
                  <a:srgbClr val="334155"/>
                </a:solidFill>
                <a:latin typeface="Aptos"/>
              </a:rPr>
              <a:t>Hola, me interesa</a:t>
            </a:r>
          </a:p>
        </p:txBody>
      </p:sp>
      <p:sp>
        <p:nvSpPr>
          <p:cNvPr id="24" name="Shape 24"/>
          <p:cNvSpPr/>
          <p:nvPr/>
        </p:nvSpPr>
        <p:spPr>
          <a:xfrm>
            <a:off x="8753475" y="2495550"/>
            <a:ext cx="1352550" cy="47625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8886825" y="2590800"/>
            <a:ext cx="10858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050">
                <a:solidFill>
                  <a:srgbClr val="334155"/>
                </a:solidFill>
                <a:latin typeface="Aptos"/>
              </a:rPr>
              <a:t>Te envio catalogo y promo</a:t>
            </a:r>
          </a:p>
        </p:txBody>
      </p:sp>
      <p:sp>
        <p:nvSpPr>
          <p:cNvPr id="26" name="Shape 26"/>
          <p:cNvSpPr/>
          <p:nvPr/>
        </p:nvSpPr>
        <p:spPr>
          <a:xfrm>
            <a:off x="8753475" y="3143250"/>
            <a:ext cx="1352550" cy="43815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8886825" y="3257550"/>
            <a:ext cx="10858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100">
                <a:solidFill>
                  <a:srgbClr val="334155"/>
                </a:solidFill>
                <a:latin typeface="Aptos"/>
              </a:rPr>
              <a:t>Asignado a vendedor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800100" y="5429250"/>
            <a:ext cx="5905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2100" b="1">
                <a:solidFill>
                  <a:srgbClr val="93C5FD"/>
                </a:solidFill>
                <a:latin typeface="Aptos"/>
              </a:rPr>
              <a:t>Siguiente paso: demo del flujo MVP con un producto real del cliente.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